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481" r:id="rId5"/>
    <p:sldId id="2482" r:id="rId6"/>
    <p:sldId id="2493" r:id="rId7"/>
    <p:sldId id="2484" r:id="rId8"/>
    <p:sldId id="2485" r:id="rId9"/>
    <p:sldId id="2486" r:id="rId10"/>
    <p:sldId id="2488" r:id="rId11"/>
    <p:sldId id="2487" r:id="rId12"/>
    <p:sldId id="2489" r:id="rId13"/>
    <p:sldId id="2490" r:id="rId14"/>
    <p:sldId id="2491" r:id="rId15"/>
    <p:sldId id="2492" r:id="rId16"/>
    <p:sldId id="249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620C9F-7366-E7CD-98E8-ADEB1E39DF12}" v="97" dt="2025-11-21T09:31:53.2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93873-6A6A-4965-8F0C-A36F7DD8C6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3A13D5B5-581E-42CB-8A53-183CF1C347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7" name="Date Placeholder 6">
            <a:extLst>
              <a:ext uri="{FF2B5EF4-FFF2-40B4-BE49-F238E27FC236}">
                <a16:creationId xmlns:a16="http://schemas.microsoft.com/office/drawing/2014/main" id="{5721C7E7-FFF8-4EC4-AAD2-6EFD69CDEBBC}"/>
              </a:ext>
            </a:extLst>
          </p:cNvPr>
          <p:cNvSpPr>
            <a:spLocks noGrp="1"/>
          </p:cNvSpPr>
          <p:nvPr>
            <p:ph type="dt" sz="half" idx="10"/>
          </p:nvPr>
        </p:nvSpPr>
        <p:spPr>
          <a:xfrm>
            <a:off x="8610600" y="6333333"/>
            <a:ext cx="2743200" cy="365125"/>
          </a:xfrm>
          <a:prstGeom prst="rect">
            <a:avLst/>
          </a:prstGeom>
        </p:spPr>
        <p:txBody>
          <a:bodyPr/>
          <a:lstStyle/>
          <a:p>
            <a:fld id="{7FB63E38-821D-47B4-B181-00BC8C326127}" type="datetime1">
              <a:rPr lang="en-IE" smtClean="0"/>
              <a:t>09/02/2026</a:t>
            </a:fld>
            <a:endParaRPr lang="en-IE"/>
          </a:p>
        </p:txBody>
      </p:sp>
      <p:sp>
        <p:nvSpPr>
          <p:cNvPr id="9" name="Slide Number Placeholder 8">
            <a:extLst>
              <a:ext uri="{FF2B5EF4-FFF2-40B4-BE49-F238E27FC236}">
                <a16:creationId xmlns:a16="http://schemas.microsoft.com/office/drawing/2014/main" id="{AB26D343-804E-476D-A7D3-289D6C1CFED1}"/>
              </a:ext>
            </a:extLst>
          </p:cNvPr>
          <p:cNvSpPr>
            <a:spLocks noGrp="1"/>
          </p:cNvSpPr>
          <p:nvPr>
            <p:ph type="sldNum" sz="quarter" idx="12"/>
          </p:nvPr>
        </p:nvSpPr>
        <p:spPr>
          <a:xfrm>
            <a:off x="4724400" y="6357143"/>
            <a:ext cx="2743200" cy="365125"/>
          </a:xfrm>
          <a:prstGeom prst="rect">
            <a:avLst/>
          </a:prstGeom>
        </p:spPr>
        <p:txBody>
          <a:bodyPr/>
          <a:lstStyle/>
          <a:p>
            <a:fld id="{B974A995-2F92-4FFE-87BE-1465EA15A0E7}" type="slidenum">
              <a:rPr lang="en-IE" smtClean="0"/>
              <a:pPr/>
              <a:t>‹#›</a:t>
            </a:fld>
            <a:endParaRPr lang="en-IE"/>
          </a:p>
        </p:txBody>
      </p:sp>
    </p:spTree>
    <p:extLst>
      <p:ext uri="{BB962C8B-B14F-4D97-AF65-F5344CB8AC3E}">
        <p14:creationId xmlns:p14="http://schemas.microsoft.com/office/powerpoint/2010/main" val="1992657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36E5F-1DA7-43AA-86D4-28B16CFC0F34}"/>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83CB5809-EAEB-47C7-8BFE-1E371886E9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449716AB-0B62-4AE5-8F70-297024CFFCC0}"/>
              </a:ext>
            </a:extLst>
          </p:cNvPr>
          <p:cNvSpPr>
            <a:spLocks noGrp="1"/>
          </p:cNvSpPr>
          <p:nvPr>
            <p:ph type="dt" sz="half" idx="10"/>
          </p:nvPr>
        </p:nvSpPr>
        <p:spPr>
          <a:xfrm>
            <a:off x="8610600" y="6333333"/>
            <a:ext cx="2743200" cy="365125"/>
          </a:xfrm>
          <a:prstGeom prst="rect">
            <a:avLst/>
          </a:prstGeom>
        </p:spPr>
        <p:txBody>
          <a:bodyPr/>
          <a:lstStyle/>
          <a:p>
            <a:fld id="{F40500E3-FA47-4D7B-A8F9-5988DE5EDA2A}" type="datetime1">
              <a:rPr lang="en-IE" smtClean="0"/>
              <a:t>09/02/2026</a:t>
            </a:fld>
            <a:endParaRPr lang="en-IE"/>
          </a:p>
        </p:txBody>
      </p:sp>
      <p:sp>
        <p:nvSpPr>
          <p:cNvPr id="6" name="Slide Number Placeholder 5">
            <a:extLst>
              <a:ext uri="{FF2B5EF4-FFF2-40B4-BE49-F238E27FC236}">
                <a16:creationId xmlns:a16="http://schemas.microsoft.com/office/drawing/2014/main" id="{B21B5693-A2E9-4EA0-AE8D-0D16B617B6A5}"/>
              </a:ext>
            </a:extLst>
          </p:cNvPr>
          <p:cNvSpPr>
            <a:spLocks noGrp="1"/>
          </p:cNvSpPr>
          <p:nvPr>
            <p:ph type="sldNum" sz="quarter" idx="12"/>
          </p:nvPr>
        </p:nvSpPr>
        <p:spPr>
          <a:xfrm>
            <a:off x="4724400" y="6357143"/>
            <a:ext cx="2743200" cy="365125"/>
          </a:xfrm>
          <a:prstGeom prst="rect">
            <a:avLst/>
          </a:prstGeom>
        </p:spPr>
        <p:txBody>
          <a:bodyPr/>
          <a:lstStyle/>
          <a:p>
            <a:fld id="{B974A995-2F92-4FFE-87BE-1465EA15A0E7}" type="slidenum">
              <a:rPr lang="en-IE" smtClean="0"/>
              <a:t>‹#›</a:t>
            </a:fld>
            <a:endParaRPr lang="en-IE"/>
          </a:p>
        </p:txBody>
      </p:sp>
    </p:spTree>
    <p:extLst>
      <p:ext uri="{BB962C8B-B14F-4D97-AF65-F5344CB8AC3E}">
        <p14:creationId xmlns:p14="http://schemas.microsoft.com/office/powerpoint/2010/main" val="1604869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36E5F-1DA7-43AA-86D4-28B16CFC0F34}"/>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83CB5809-EAEB-47C7-8BFE-1E371886E9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449716AB-0B62-4AE5-8F70-297024CFFCC0}"/>
              </a:ext>
            </a:extLst>
          </p:cNvPr>
          <p:cNvSpPr>
            <a:spLocks noGrp="1"/>
          </p:cNvSpPr>
          <p:nvPr>
            <p:ph type="dt" sz="half" idx="10"/>
          </p:nvPr>
        </p:nvSpPr>
        <p:spPr>
          <a:xfrm>
            <a:off x="8610600" y="6333333"/>
            <a:ext cx="2743200" cy="365125"/>
          </a:xfrm>
          <a:prstGeom prst="rect">
            <a:avLst/>
          </a:prstGeom>
        </p:spPr>
        <p:txBody>
          <a:bodyPr/>
          <a:lstStyle/>
          <a:p>
            <a:fld id="{078580C2-3297-4BC0-BE8C-27F65392526C}" type="datetime1">
              <a:rPr lang="en-IE" smtClean="0"/>
              <a:t>09/02/2026</a:t>
            </a:fld>
            <a:endParaRPr lang="en-IE"/>
          </a:p>
        </p:txBody>
      </p:sp>
      <p:sp>
        <p:nvSpPr>
          <p:cNvPr id="6" name="Slide Number Placeholder 5">
            <a:extLst>
              <a:ext uri="{FF2B5EF4-FFF2-40B4-BE49-F238E27FC236}">
                <a16:creationId xmlns:a16="http://schemas.microsoft.com/office/drawing/2014/main" id="{B21B5693-A2E9-4EA0-AE8D-0D16B617B6A5}"/>
              </a:ext>
            </a:extLst>
          </p:cNvPr>
          <p:cNvSpPr>
            <a:spLocks noGrp="1"/>
          </p:cNvSpPr>
          <p:nvPr>
            <p:ph type="sldNum" sz="quarter" idx="12"/>
          </p:nvPr>
        </p:nvSpPr>
        <p:spPr>
          <a:xfrm>
            <a:off x="4724400" y="6357143"/>
            <a:ext cx="2743200" cy="365125"/>
          </a:xfrm>
          <a:prstGeom prst="rect">
            <a:avLst/>
          </a:prstGeom>
        </p:spPr>
        <p:txBody>
          <a:bodyPr/>
          <a:lstStyle/>
          <a:p>
            <a:fld id="{B974A995-2F92-4FFE-87BE-1465EA15A0E7}" type="slidenum">
              <a:rPr lang="en-IE" smtClean="0"/>
              <a:t>‹#›</a:t>
            </a:fld>
            <a:endParaRPr lang="en-IE"/>
          </a:p>
        </p:txBody>
      </p:sp>
      <p:sp>
        <p:nvSpPr>
          <p:cNvPr id="12" name="Content Placeholder 11">
            <a:extLst>
              <a:ext uri="{FF2B5EF4-FFF2-40B4-BE49-F238E27FC236}">
                <a16:creationId xmlns:a16="http://schemas.microsoft.com/office/drawing/2014/main" id="{D7421B80-1F8E-47B5-9332-6F7C680DAE40}"/>
              </a:ext>
            </a:extLst>
          </p:cNvPr>
          <p:cNvSpPr>
            <a:spLocks noGrp="1"/>
          </p:cNvSpPr>
          <p:nvPr>
            <p:ph sz="quarter" idx="13"/>
          </p:nvPr>
        </p:nvSpPr>
        <p:spPr>
          <a:xfrm>
            <a:off x="838200" y="1371600"/>
            <a:ext cx="10515600" cy="319088"/>
          </a:xfrm>
        </p:spPr>
        <p:txBody>
          <a:bodyPr>
            <a:noAutofit/>
          </a:bodyPr>
          <a:lstStyle>
            <a:lvl1pPr marL="0" indent="0">
              <a:buFontTx/>
              <a:buNone/>
              <a:defRPr sz="200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3162560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A6FD0-40E3-4DE5-8AC9-FA4885EC46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52162DE6-2195-4CB8-8A86-42F4088407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41CB5D-E574-45AF-8CBF-D146A8DD8B09}"/>
              </a:ext>
            </a:extLst>
          </p:cNvPr>
          <p:cNvSpPr>
            <a:spLocks noGrp="1"/>
          </p:cNvSpPr>
          <p:nvPr>
            <p:ph type="dt" sz="half" idx="10"/>
          </p:nvPr>
        </p:nvSpPr>
        <p:spPr>
          <a:xfrm>
            <a:off x="8610600" y="6333333"/>
            <a:ext cx="2743200" cy="365125"/>
          </a:xfrm>
          <a:prstGeom prst="rect">
            <a:avLst/>
          </a:prstGeom>
        </p:spPr>
        <p:txBody>
          <a:bodyPr/>
          <a:lstStyle/>
          <a:p>
            <a:fld id="{D55BD0BE-8A2D-4FAF-ABE3-F96EDE1D9DCA}" type="datetime1">
              <a:rPr lang="en-IE" smtClean="0"/>
              <a:t>09/02/2026</a:t>
            </a:fld>
            <a:endParaRPr lang="en-IE"/>
          </a:p>
        </p:txBody>
      </p:sp>
      <p:sp>
        <p:nvSpPr>
          <p:cNvPr id="6" name="Slide Number Placeholder 5">
            <a:extLst>
              <a:ext uri="{FF2B5EF4-FFF2-40B4-BE49-F238E27FC236}">
                <a16:creationId xmlns:a16="http://schemas.microsoft.com/office/drawing/2014/main" id="{B0FBFB80-19B2-4D7C-8988-26CDF90815CB}"/>
              </a:ext>
            </a:extLst>
          </p:cNvPr>
          <p:cNvSpPr>
            <a:spLocks noGrp="1"/>
          </p:cNvSpPr>
          <p:nvPr>
            <p:ph type="sldNum" sz="quarter" idx="12"/>
          </p:nvPr>
        </p:nvSpPr>
        <p:spPr>
          <a:xfrm>
            <a:off x="4724400" y="6357143"/>
            <a:ext cx="2743200" cy="365125"/>
          </a:xfrm>
          <a:prstGeom prst="rect">
            <a:avLst/>
          </a:prstGeom>
        </p:spPr>
        <p:txBody>
          <a:bodyPr/>
          <a:lstStyle/>
          <a:p>
            <a:fld id="{B974A995-2F92-4FFE-87BE-1465EA15A0E7}" type="slidenum">
              <a:rPr lang="en-IE" smtClean="0"/>
              <a:t>‹#›</a:t>
            </a:fld>
            <a:endParaRPr lang="en-IE"/>
          </a:p>
        </p:txBody>
      </p:sp>
    </p:spTree>
    <p:extLst>
      <p:ext uri="{BB962C8B-B14F-4D97-AF65-F5344CB8AC3E}">
        <p14:creationId xmlns:p14="http://schemas.microsoft.com/office/powerpoint/2010/main" val="67227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1_Dark 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A6FD0-40E3-4DE5-8AC9-FA4885EC46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52162DE6-2195-4CB8-8A86-42F4088407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41CB5D-E574-45AF-8CBF-D146A8DD8B09}"/>
              </a:ext>
            </a:extLst>
          </p:cNvPr>
          <p:cNvSpPr>
            <a:spLocks noGrp="1"/>
          </p:cNvSpPr>
          <p:nvPr>
            <p:ph type="dt" sz="half" idx="10"/>
          </p:nvPr>
        </p:nvSpPr>
        <p:spPr>
          <a:xfrm>
            <a:off x="8610600" y="6333333"/>
            <a:ext cx="2743200" cy="365125"/>
          </a:xfrm>
          <a:prstGeom prst="rect">
            <a:avLst/>
          </a:prstGeom>
        </p:spPr>
        <p:txBody>
          <a:bodyPr/>
          <a:lstStyle/>
          <a:p>
            <a:fld id="{6DB3DB4D-A5CF-406C-B698-9023084AF57A}" type="datetime1">
              <a:rPr lang="en-IE" smtClean="0"/>
              <a:t>09/02/2026</a:t>
            </a:fld>
            <a:endParaRPr lang="en-IE"/>
          </a:p>
        </p:txBody>
      </p:sp>
      <p:sp>
        <p:nvSpPr>
          <p:cNvPr id="6" name="Slide Number Placeholder 5">
            <a:extLst>
              <a:ext uri="{FF2B5EF4-FFF2-40B4-BE49-F238E27FC236}">
                <a16:creationId xmlns:a16="http://schemas.microsoft.com/office/drawing/2014/main" id="{B0FBFB80-19B2-4D7C-8988-26CDF90815CB}"/>
              </a:ext>
            </a:extLst>
          </p:cNvPr>
          <p:cNvSpPr>
            <a:spLocks noGrp="1"/>
          </p:cNvSpPr>
          <p:nvPr>
            <p:ph type="sldNum" sz="quarter" idx="12"/>
          </p:nvPr>
        </p:nvSpPr>
        <p:spPr>
          <a:xfrm>
            <a:off x="4724400" y="6357143"/>
            <a:ext cx="2743200" cy="365125"/>
          </a:xfrm>
          <a:prstGeom prst="rect">
            <a:avLst/>
          </a:prstGeom>
        </p:spPr>
        <p:txBody>
          <a:bodyPr/>
          <a:lstStyle/>
          <a:p>
            <a:fld id="{B974A995-2F92-4FFE-87BE-1465EA15A0E7}" type="slidenum">
              <a:rPr lang="en-IE" smtClean="0"/>
              <a:t>‹#›</a:t>
            </a:fld>
            <a:endParaRPr lang="en-IE"/>
          </a:p>
        </p:txBody>
      </p:sp>
    </p:spTree>
    <p:extLst>
      <p:ext uri="{BB962C8B-B14F-4D97-AF65-F5344CB8AC3E}">
        <p14:creationId xmlns:p14="http://schemas.microsoft.com/office/powerpoint/2010/main" val="3733772597"/>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4B110-9503-454F-8C2F-82D18736B604}"/>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208FB459-1ED4-4072-9DDE-19EB0BD1ED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F78152FE-1E46-4BA4-9158-065AEDD3B1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D993FC59-2145-4B50-86C1-55DCB8834B19}"/>
              </a:ext>
            </a:extLst>
          </p:cNvPr>
          <p:cNvSpPr>
            <a:spLocks noGrp="1"/>
          </p:cNvSpPr>
          <p:nvPr>
            <p:ph type="dt" sz="half" idx="10"/>
          </p:nvPr>
        </p:nvSpPr>
        <p:spPr>
          <a:xfrm>
            <a:off x="8610600" y="6333333"/>
            <a:ext cx="2743200" cy="365125"/>
          </a:xfrm>
          <a:prstGeom prst="rect">
            <a:avLst/>
          </a:prstGeom>
        </p:spPr>
        <p:txBody>
          <a:bodyPr/>
          <a:lstStyle/>
          <a:p>
            <a:fld id="{F89FEAEF-90E7-4C56-9100-FB8886BAAA7C}" type="datetime1">
              <a:rPr lang="en-IE" smtClean="0"/>
              <a:t>09/02/2026</a:t>
            </a:fld>
            <a:endParaRPr lang="en-IE"/>
          </a:p>
        </p:txBody>
      </p:sp>
      <p:sp>
        <p:nvSpPr>
          <p:cNvPr id="7" name="Slide Number Placeholder 6">
            <a:extLst>
              <a:ext uri="{FF2B5EF4-FFF2-40B4-BE49-F238E27FC236}">
                <a16:creationId xmlns:a16="http://schemas.microsoft.com/office/drawing/2014/main" id="{40D444C4-C2FE-4690-9503-41001FB9C05B}"/>
              </a:ext>
            </a:extLst>
          </p:cNvPr>
          <p:cNvSpPr>
            <a:spLocks noGrp="1"/>
          </p:cNvSpPr>
          <p:nvPr>
            <p:ph type="sldNum" sz="quarter" idx="12"/>
          </p:nvPr>
        </p:nvSpPr>
        <p:spPr>
          <a:xfrm>
            <a:off x="4724400" y="6357143"/>
            <a:ext cx="2743200" cy="365125"/>
          </a:xfrm>
          <a:prstGeom prst="rect">
            <a:avLst/>
          </a:prstGeom>
        </p:spPr>
        <p:txBody>
          <a:bodyPr/>
          <a:lstStyle/>
          <a:p>
            <a:fld id="{B974A995-2F92-4FFE-87BE-1465EA15A0E7}" type="slidenum">
              <a:rPr lang="en-IE" smtClean="0"/>
              <a:t>‹#›</a:t>
            </a:fld>
            <a:endParaRPr lang="en-IE"/>
          </a:p>
        </p:txBody>
      </p:sp>
    </p:spTree>
    <p:extLst>
      <p:ext uri="{BB962C8B-B14F-4D97-AF65-F5344CB8AC3E}">
        <p14:creationId xmlns:p14="http://schemas.microsoft.com/office/powerpoint/2010/main" val="441966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4B4CF-232C-43B5-AAF1-4D91704A3A3B}"/>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3F5E2035-A5AD-4010-8E78-0C9EAE8404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6E0521-F583-44E5-B03D-301198C7CA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A7BF7173-3FA5-4DB3-8574-E3AF3E7832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87079E-874F-403C-87E0-118BCA4666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45463E51-3DDF-4980-B1D6-3B6541DF930D}"/>
              </a:ext>
            </a:extLst>
          </p:cNvPr>
          <p:cNvSpPr>
            <a:spLocks noGrp="1"/>
          </p:cNvSpPr>
          <p:nvPr>
            <p:ph type="dt" sz="half" idx="10"/>
          </p:nvPr>
        </p:nvSpPr>
        <p:spPr>
          <a:xfrm>
            <a:off x="8610600" y="6333333"/>
            <a:ext cx="2743200" cy="365125"/>
          </a:xfrm>
          <a:prstGeom prst="rect">
            <a:avLst/>
          </a:prstGeom>
        </p:spPr>
        <p:txBody>
          <a:bodyPr/>
          <a:lstStyle/>
          <a:p>
            <a:fld id="{F79F6E95-B80B-4202-937C-B0EB66301616}" type="datetime1">
              <a:rPr lang="en-IE" smtClean="0"/>
              <a:t>09/02/2026</a:t>
            </a:fld>
            <a:endParaRPr lang="en-IE"/>
          </a:p>
        </p:txBody>
      </p:sp>
      <p:sp>
        <p:nvSpPr>
          <p:cNvPr id="9" name="Slide Number Placeholder 8">
            <a:extLst>
              <a:ext uri="{FF2B5EF4-FFF2-40B4-BE49-F238E27FC236}">
                <a16:creationId xmlns:a16="http://schemas.microsoft.com/office/drawing/2014/main" id="{D2F84145-5BEE-4547-8B9D-87C141E03F60}"/>
              </a:ext>
            </a:extLst>
          </p:cNvPr>
          <p:cNvSpPr>
            <a:spLocks noGrp="1"/>
          </p:cNvSpPr>
          <p:nvPr>
            <p:ph type="sldNum" sz="quarter" idx="12"/>
          </p:nvPr>
        </p:nvSpPr>
        <p:spPr>
          <a:xfrm>
            <a:off x="4724400" y="6357143"/>
            <a:ext cx="2743200" cy="365125"/>
          </a:xfrm>
          <a:prstGeom prst="rect">
            <a:avLst/>
          </a:prstGeom>
        </p:spPr>
        <p:txBody>
          <a:bodyPr/>
          <a:lstStyle/>
          <a:p>
            <a:fld id="{B974A995-2F92-4FFE-87BE-1465EA15A0E7}" type="slidenum">
              <a:rPr lang="en-IE" smtClean="0"/>
              <a:t>‹#›</a:t>
            </a:fld>
            <a:endParaRPr lang="en-IE"/>
          </a:p>
        </p:txBody>
      </p:sp>
    </p:spTree>
    <p:extLst>
      <p:ext uri="{BB962C8B-B14F-4D97-AF65-F5344CB8AC3E}">
        <p14:creationId xmlns:p14="http://schemas.microsoft.com/office/powerpoint/2010/main" val="1147579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6C377-8606-4FBB-B5E3-23C53729D868}"/>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1822CE13-B6A3-45B1-B6DA-2E4FFB460EEA}"/>
              </a:ext>
            </a:extLst>
          </p:cNvPr>
          <p:cNvSpPr>
            <a:spLocks noGrp="1"/>
          </p:cNvSpPr>
          <p:nvPr>
            <p:ph type="dt" sz="half" idx="10"/>
          </p:nvPr>
        </p:nvSpPr>
        <p:spPr>
          <a:xfrm>
            <a:off x="8610600" y="6333333"/>
            <a:ext cx="2743200" cy="365125"/>
          </a:xfrm>
          <a:prstGeom prst="rect">
            <a:avLst/>
          </a:prstGeom>
        </p:spPr>
        <p:txBody>
          <a:bodyPr/>
          <a:lstStyle/>
          <a:p>
            <a:fld id="{18BE491E-58CF-45E2-AE56-3E8DC986B355}" type="datetime1">
              <a:rPr lang="en-IE" smtClean="0"/>
              <a:t>09/02/2026</a:t>
            </a:fld>
            <a:endParaRPr lang="en-IE"/>
          </a:p>
        </p:txBody>
      </p:sp>
      <p:sp>
        <p:nvSpPr>
          <p:cNvPr id="5" name="Slide Number Placeholder 4">
            <a:extLst>
              <a:ext uri="{FF2B5EF4-FFF2-40B4-BE49-F238E27FC236}">
                <a16:creationId xmlns:a16="http://schemas.microsoft.com/office/drawing/2014/main" id="{971039EF-10AE-4524-9E5F-807F8677DF30}"/>
              </a:ext>
            </a:extLst>
          </p:cNvPr>
          <p:cNvSpPr>
            <a:spLocks noGrp="1"/>
          </p:cNvSpPr>
          <p:nvPr>
            <p:ph type="sldNum" sz="quarter" idx="12"/>
          </p:nvPr>
        </p:nvSpPr>
        <p:spPr>
          <a:xfrm>
            <a:off x="4724400" y="6357143"/>
            <a:ext cx="2743200" cy="365125"/>
          </a:xfrm>
          <a:prstGeom prst="rect">
            <a:avLst/>
          </a:prstGeom>
        </p:spPr>
        <p:txBody>
          <a:bodyPr/>
          <a:lstStyle/>
          <a:p>
            <a:fld id="{B974A995-2F92-4FFE-87BE-1465EA15A0E7}" type="slidenum">
              <a:rPr lang="en-IE" smtClean="0"/>
              <a:t>‹#›</a:t>
            </a:fld>
            <a:endParaRPr lang="en-IE"/>
          </a:p>
        </p:txBody>
      </p:sp>
    </p:spTree>
    <p:extLst>
      <p:ext uri="{BB962C8B-B14F-4D97-AF65-F5344CB8AC3E}">
        <p14:creationId xmlns:p14="http://schemas.microsoft.com/office/powerpoint/2010/main" val="3660500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234EB4-32E0-4774-ACDE-2498B67DFB50}"/>
              </a:ext>
            </a:extLst>
          </p:cNvPr>
          <p:cNvSpPr>
            <a:spLocks noGrp="1"/>
          </p:cNvSpPr>
          <p:nvPr>
            <p:ph type="dt" sz="half" idx="10"/>
          </p:nvPr>
        </p:nvSpPr>
        <p:spPr>
          <a:xfrm>
            <a:off x="8610600" y="6333333"/>
            <a:ext cx="2743200" cy="365125"/>
          </a:xfrm>
          <a:prstGeom prst="rect">
            <a:avLst/>
          </a:prstGeom>
        </p:spPr>
        <p:txBody>
          <a:bodyPr/>
          <a:lstStyle/>
          <a:p>
            <a:fld id="{7373BE22-2402-4323-91D1-7D2871E253D2}" type="datetime1">
              <a:rPr lang="en-IE" smtClean="0"/>
              <a:t>09/02/2026</a:t>
            </a:fld>
            <a:endParaRPr lang="en-IE"/>
          </a:p>
        </p:txBody>
      </p:sp>
      <p:sp>
        <p:nvSpPr>
          <p:cNvPr id="4" name="Slide Number Placeholder 3">
            <a:extLst>
              <a:ext uri="{FF2B5EF4-FFF2-40B4-BE49-F238E27FC236}">
                <a16:creationId xmlns:a16="http://schemas.microsoft.com/office/drawing/2014/main" id="{3D5E88F8-4B8A-42AC-B44F-14515FB569ED}"/>
              </a:ext>
            </a:extLst>
          </p:cNvPr>
          <p:cNvSpPr>
            <a:spLocks noGrp="1"/>
          </p:cNvSpPr>
          <p:nvPr>
            <p:ph type="sldNum" sz="quarter" idx="12"/>
          </p:nvPr>
        </p:nvSpPr>
        <p:spPr>
          <a:xfrm>
            <a:off x="4724400" y="6357143"/>
            <a:ext cx="2743200" cy="365125"/>
          </a:xfrm>
          <a:prstGeom prst="rect">
            <a:avLst/>
          </a:prstGeom>
        </p:spPr>
        <p:txBody>
          <a:bodyPr/>
          <a:lstStyle/>
          <a:p>
            <a:fld id="{B974A995-2F92-4FFE-87BE-1465EA15A0E7}" type="slidenum">
              <a:rPr lang="en-IE" smtClean="0"/>
              <a:t>‹#›</a:t>
            </a:fld>
            <a:endParaRPr lang="en-IE"/>
          </a:p>
        </p:txBody>
      </p:sp>
    </p:spTree>
    <p:extLst>
      <p:ext uri="{BB962C8B-B14F-4D97-AF65-F5344CB8AC3E}">
        <p14:creationId xmlns:p14="http://schemas.microsoft.com/office/powerpoint/2010/main" val="3085342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E5A29-3521-4921-ACB5-A3779E9BBB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D30A1412-BFB0-418E-B175-5302FD5D6C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1BA85ED4-74C6-4652-822B-CB6B573C2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AFD10E-5643-436E-B49F-1AF9813A9A0F}"/>
              </a:ext>
            </a:extLst>
          </p:cNvPr>
          <p:cNvSpPr>
            <a:spLocks noGrp="1"/>
          </p:cNvSpPr>
          <p:nvPr>
            <p:ph type="dt" sz="half" idx="10"/>
          </p:nvPr>
        </p:nvSpPr>
        <p:spPr>
          <a:xfrm>
            <a:off x="8610600" y="6333333"/>
            <a:ext cx="2743200" cy="365125"/>
          </a:xfrm>
          <a:prstGeom prst="rect">
            <a:avLst/>
          </a:prstGeom>
        </p:spPr>
        <p:txBody>
          <a:bodyPr/>
          <a:lstStyle/>
          <a:p>
            <a:fld id="{D061C56B-A287-41AE-9727-BBC368CF0129}" type="datetime1">
              <a:rPr lang="en-IE" smtClean="0"/>
              <a:t>09/02/2026</a:t>
            </a:fld>
            <a:endParaRPr lang="en-IE"/>
          </a:p>
        </p:txBody>
      </p:sp>
      <p:sp>
        <p:nvSpPr>
          <p:cNvPr id="7" name="Slide Number Placeholder 6">
            <a:extLst>
              <a:ext uri="{FF2B5EF4-FFF2-40B4-BE49-F238E27FC236}">
                <a16:creationId xmlns:a16="http://schemas.microsoft.com/office/drawing/2014/main" id="{AFAD2DED-1C5D-4CC7-B5CD-5951F2E582EF}"/>
              </a:ext>
            </a:extLst>
          </p:cNvPr>
          <p:cNvSpPr>
            <a:spLocks noGrp="1"/>
          </p:cNvSpPr>
          <p:nvPr>
            <p:ph type="sldNum" sz="quarter" idx="12"/>
          </p:nvPr>
        </p:nvSpPr>
        <p:spPr>
          <a:xfrm>
            <a:off x="4724400" y="6357143"/>
            <a:ext cx="2743200" cy="365125"/>
          </a:xfrm>
          <a:prstGeom prst="rect">
            <a:avLst/>
          </a:prstGeom>
        </p:spPr>
        <p:txBody>
          <a:bodyPr/>
          <a:lstStyle/>
          <a:p>
            <a:fld id="{B974A995-2F92-4FFE-87BE-1465EA15A0E7}" type="slidenum">
              <a:rPr lang="en-IE" smtClean="0"/>
              <a:t>‹#›</a:t>
            </a:fld>
            <a:endParaRPr lang="en-IE"/>
          </a:p>
        </p:txBody>
      </p:sp>
    </p:spTree>
    <p:extLst>
      <p:ext uri="{BB962C8B-B14F-4D97-AF65-F5344CB8AC3E}">
        <p14:creationId xmlns:p14="http://schemas.microsoft.com/office/powerpoint/2010/main" val="1077343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37759-E054-4CF4-A04B-3B04708081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6278ECAB-BC1E-4888-9D58-383E9494B34A}"/>
              </a:ext>
            </a:extLst>
          </p:cNvPr>
          <p:cNvSpPr>
            <a:spLocks noGrp="1"/>
          </p:cNvSpPr>
          <p:nvPr>
            <p:ph type="pic" idx="1"/>
          </p:nvPr>
        </p:nvSpPr>
        <p:spPr>
          <a:xfrm>
            <a:off x="5183188" y="0"/>
            <a:ext cx="7008812" cy="68579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E"/>
          </a:p>
        </p:txBody>
      </p:sp>
      <p:sp>
        <p:nvSpPr>
          <p:cNvPr id="4" name="Text Placeholder 3">
            <a:extLst>
              <a:ext uri="{FF2B5EF4-FFF2-40B4-BE49-F238E27FC236}">
                <a16:creationId xmlns:a16="http://schemas.microsoft.com/office/drawing/2014/main" id="{E86181EE-7D39-4EF7-AA59-CFBCBBE204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692714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2FF6F-5A04-409F-8CDF-298B7ADA21E2}"/>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6AEB0A6B-2AC5-46CD-8F43-F17E9865DD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310E2ABE-4034-4396-9584-488983E3F738}"/>
              </a:ext>
            </a:extLst>
          </p:cNvPr>
          <p:cNvSpPr>
            <a:spLocks noGrp="1"/>
          </p:cNvSpPr>
          <p:nvPr>
            <p:ph type="dt" sz="half" idx="10"/>
          </p:nvPr>
        </p:nvSpPr>
        <p:spPr>
          <a:xfrm>
            <a:off x="8610600" y="6333333"/>
            <a:ext cx="2743200" cy="365125"/>
          </a:xfrm>
          <a:prstGeom prst="rect">
            <a:avLst/>
          </a:prstGeom>
        </p:spPr>
        <p:txBody>
          <a:bodyPr/>
          <a:lstStyle/>
          <a:p>
            <a:fld id="{13A394B1-8E15-4A30-A681-0941A1816FA3}" type="datetime1">
              <a:rPr lang="en-IE" smtClean="0"/>
              <a:t>09/02/2026</a:t>
            </a:fld>
            <a:endParaRPr lang="en-IE"/>
          </a:p>
        </p:txBody>
      </p:sp>
      <p:sp>
        <p:nvSpPr>
          <p:cNvPr id="6" name="Slide Number Placeholder 5">
            <a:extLst>
              <a:ext uri="{FF2B5EF4-FFF2-40B4-BE49-F238E27FC236}">
                <a16:creationId xmlns:a16="http://schemas.microsoft.com/office/drawing/2014/main" id="{08FE238C-F8CE-4157-8281-20E6FA94A45B}"/>
              </a:ext>
            </a:extLst>
          </p:cNvPr>
          <p:cNvSpPr>
            <a:spLocks noGrp="1"/>
          </p:cNvSpPr>
          <p:nvPr>
            <p:ph type="sldNum" sz="quarter" idx="12"/>
          </p:nvPr>
        </p:nvSpPr>
        <p:spPr>
          <a:xfrm>
            <a:off x="4724400" y="6357143"/>
            <a:ext cx="2743200" cy="365125"/>
          </a:xfrm>
          <a:prstGeom prst="rect">
            <a:avLst/>
          </a:prstGeom>
        </p:spPr>
        <p:txBody>
          <a:bodyPr/>
          <a:lstStyle/>
          <a:p>
            <a:fld id="{B974A995-2F92-4FFE-87BE-1465EA15A0E7}" type="slidenum">
              <a:rPr lang="en-IE" smtClean="0"/>
              <a:t>‹#›</a:t>
            </a:fld>
            <a:endParaRPr lang="en-IE"/>
          </a:p>
        </p:txBody>
      </p:sp>
    </p:spTree>
    <p:extLst>
      <p:ext uri="{BB962C8B-B14F-4D97-AF65-F5344CB8AC3E}">
        <p14:creationId xmlns:p14="http://schemas.microsoft.com/office/powerpoint/2010/main" val="1386033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490A06-DF7C-4703-827E-9AD7679BEA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1A60872C-2F07-4599-AB54-A4788A61EF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14F2ABE3-71E9-482E-81D9-DCE0E8B9277C}"/>
              </a:ext>
            </a:extLst>
          </p:cNvPr>
          <p:cNvSpPr>
            <a:spLocks noGrp="1"/>
          </p:cNvSpPr>
          <p:nvPr>
            <p:ph type="dt" sz="half" idx="10"/>
          </p:nvPr>
        </p:nvSpPr>
        <p:spPr>
          <a:xfrm>
            <a:off x="8610600" y="6333333"/>
            <a:ext cx="2743200" cy="365125"/>
          </a:xfrm>
          <a:prstGeom prst="rect">
            <a:avLst/>
          </a:prstGeom>
        </p:spPr>
        <p:txBody>
          <a:bodyPr/>
          <a:lstStyle/>
          <a:p>
            <a:fld id="{E2CDEC06-96BE-4541-9204-0B27356B95D8}" type="datetime1">
              <a:rPr lang="en-IE" smtClean="0"/>
              <a:t>09/02/2026</a:t>
            </a:fld>
            <a:endParaRPr lang="en-IE"/>
          </a:p>
        </p:txBody>
      </p:sp>
      <p:sp>
        <p:nvSpPr>
          <p:cNvPr id="6" name="Slide Number Placeholder 5">
            <a:extLst>
              <a:ext uri="{FF2B5EF4-FFF2-40B4-BE49-F238E27FC236}">
                <a16:creationId xmlns:a16="http://schemas.microsoft.com/office/drawing/2014/main" id="{3EF511CF-23A5-48C0-8901-63D7C0CF9706}"/>
              </a:ext>
            </a:extLst>
          </p:cNvPr>
          <p:cNvSpPr>
            <a:spLocks noGrp="1"/>
          </p:cNvSpPr>
          <p:nvPr>
            <p:ph type="sldNum" sz="quarter" idx="12"/>
          </p:nvPr>
        </p:nvSpPr>
        <p:spPr>
          <a:xfrm>
            <a:off x="4724400" y="6357143"/>
            <a:ext cx="2743200" cy="365125"/>
          </a:xfrm>
          <a:prstGeom prst="rect">
            <a:avLst/>
          </a:prstGeom>
        </p:spPr>
        <p:txBody>
          <a:bodyPr/>
          <a:lstStyle/>
          <a:p>
            <a:fld id="{B974A995-2F92-4FFE-87BE-1465EA15A0E7}" type="slidenum">
              <a:rPr lang="en-IE" smtClean="0"/>
              <a:t>‹#›</a:t>
            </a:fld>
            <a:endParaRPr lang="en-IE"/>
          </a:p>
        </p:txBody>
      </p:sp>
    </p:spTree>
    <p:extLst>
      <p:ext uri="{BB962C8B-B14F-4D97-AF65-F5344CB8AC3E}">
        <p14:creationId xmlns:p14="http://schemas.microsoft.com/office/powerpoint/2010/main" val="2874383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34AB1E-358F-4F1F-81FB-D3B04998D8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BD22E8D7-874E-48E7-86EE-1EFDC0DCBF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pic>
        <p:nvPicPr>
          <p:cNvPr id="11" name="Graphic 10">
            <a:extLst>
              <a:ext uri="{FF2B5EF4-FFF2-40B4-BE49-F238E27FC236}">
                <a16:creationId xmlns:a16="http://schemas.microsoft.com/office/drawing/2014/main" id="{30115B62-56F2-41AB-9BD7-4F81E11688D4}"/>
              </a:ext>
            </a:extLst>
          </p:cNvPr>
          <p:cNvPicPr>
            <a:picLocks noChangeAspect="1"/>
          </p:cNvPicPr>
          <p:nvPr userDrawn="1"/>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42801" y="6304332"/>
            <a:ext cx="595400" cy="433018"/>
          </a:xfrm>
          <a:prstGeom prst="rect">
            <a:avLst/>
          </a:prstGeom>
        </p:spPr>
      </p:pic>
      <p:pic>
        <p:nvPicPr>
          <p:cNvPr id="15" name="Picture 14">
            <a:extLst>
              <a:ext uri="{FF2B5EF4-FFF2-40B4-BE49-F238E27FC236}">
                <a16:creationId xmlns:a16="http://schemas.microsoft.com/office/drawing/2014/main" id="{17A0AAE7-2084-4C53-B384-21543D7149F4}"/>
              </a:ext>
            </a:extLst>
          </p:cNvPr>
          <p:cNvPicPr>
            <a:picLocks noChangeAspect="1"/>
          </p:cNvPicPr>
          <p:nvPr userDrawn="1"/>
        </p:nvPicPr>
        <p:blipFill rotWithShape="1">
          <a:blip r:embed="rId17"/>
          <a:srcRect t="20706" b="33566"/>
          <a:stretch/>
        </p:blipFill>
        <p:spPr>
          <a:xfrm>
            <a:off x="10099043" y="5943599"/>
            <a:ext cx="2353260" cy="914401"/>
          </a:xfrm>
          <a:prstGeom prst="rect">
            <a:avLst/>
          </a:prstGeom>
        </p:spPr>
      </p:pic>
      <p:sp>
        <p:nvSpPr>
          <p:cNvPr id="13" name="Footer Placeholder 4">
            <a:extLst>
              <a:ext uri="{FF2B5EF4-FFF2-40B4-BE49-F238E27FC236}">
                <a16:creationId xmlns:a16="http://schemas.microsoft.com/office/drawing/2014/main" id="{A1B36251-E9B2-47A7-BDAE-5FFBB8586E57}"/>
              </a:ext>
            </a:extLst>
          </p:cNvPr>
          <p:cNvSpPr txBox="1">
            <a:spLocks/>
          </p:cNvSpPr>
          <p:nvPr userDrawn="1"/>
        </p:nvSpPr>
        <p:spPr>
          <a:xfrm>
            <a:off x="838200" y="6372225"/>
            <a:ext cx="3505222"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t>© 2025 - Proprietary &amp; Confidential</a:t>
            </a:r>
            <a:endParaRPr lang="en-IE"/>
          </a:p>
        </p:txBody>
      </p:sp>
      <p:sp>
        <p:nvSpPr>
          <p:cNvPr id="4" name="Slide Number Placeholder 8">
            <a:extLst>
              <a:ext uri="{FF2B5EF4-FFF2-40B4-BE49-F238E27FC236}">
                <a16:creationId xmlns:a16="http://schemas.microsoft.com/office/drawing/2014/main" id="{F4F6713C-5D05-C4ED-60A4-1F588DEA0018}"/>
              </a:ext>
            </a:extLst>
          </p:cNvPr>
          <p:cNvSpPr>
            <a:spLocks noGrp="1"/>
          </p:cNvSpPr>
          <p:nvPr>
            <p:ph type="sldNum" sz="quarter" idx="4"/>
          </p:nvPr>
        </p:nvSpPr>
        <p:spPr>
          <a:xfrm>
            <a:off x="4724400" y="6357143"/>
            <a:ext cx="2743200" cy="365125"/>
          </a:xfrm>
          <a:prstGeom prst="rect">
            <a:avLst/>
          </a:prstGeom>
        </p:spPr>
        <p:txBody>
          <a:bodyPr/>
          <a:lstStyle>
            <a:lvl1pPr algn="ctr">
              <a:defRPr sz="1200"/>
            </a:lvl1pPr>
          </a:lstStyle>
          <a:p>
            <a:fld id="{B974A995-2F92-4FFE-87BE-1465EA15A0E7}" type="slidenum">
              <a:rPr lang="en-IE" smtClean="0"/>
              <a:pPr/>
              <a:t>‹#›</a:t>
            </a:fld>
            <a:endParaRPr lang="en-IE"/>
          </a:p>
        </p:txBody>
      </p:sp>
    </p:spTree>
    <p:extLst>
      <p:ext uri="{BB962C8B-B14F-4D97-AF65-F5344CB8AC3E}">
        <p14:creationId xmlns:p14="http://schemas.microsoft.com/office/powerpoint/2010/main" val="9424045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ilotphotonics.sharepoint.com/:f:/s/Technical-Productdevelopment/EpH7XBpnTeJLhq_o7RkILRUBZ6Mknmqh4L-9pM5PfbbRZw?e=ajgUQF"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1FB4FD-32F0-73C8-B3C0-D5FA4CCC11DA}"/>
              </a:ext>
            </a:extLst>
          </p:cNvPr>
          <p:cNvSpPr>
            <a:spLocks noGrp="1"/>
          </p:cNvSpPr>
          <p:nvPr>
            <p:ph type="ctrTitle"/>
          </p:nvPr>
        </p:nvSpPr>
        <p:spPr/>
        <p:txBody>
          <a:bodyPr>
            <a:normAutofit/>
          </a:bodyPr>
          <a:lstStyle/>
          <a:p>
            <a:r>
              <a:rPr lang="en-GB" sz="4900" dirty="0" err="1"/>
              <a:t>xDAC</a:t>
            </a:r>
            <a:r>
              <a:rPr lang="en-GB" sz="4900" dirty="0"/>
              <a:t> v3</a:t>
            </a:r>
            <a:endParaRPr lang="en-IE" sz="4900" dirty="0"/>
          </a:p>
        </p:txBody>
      </p:sp>
      <p:sp>
        <p:nvSpPr>
          <p:cNvPr id="5" name="Subtitle 4">
            <a:extLst>
              <a:ext uri="{FF2B5EF4-FFF2-40B4-BE49-F238E27FC236}">
                <a16:creationId xmlns:a16="http://schemas.microsoft.com/office/drawing/2014/main" id="{19921869-A240-8EB4-B087-116B04A2DA87}"/>
              </a:ext>
            </a:extLst>
          </p:cNvPr>
          <p:cNvSpPr>
            <a:spLocks noGrp="1"/>
          </p:cNvSpPr>
          <p:nvPr>
            <p:ph type="subTitle" idx="1"/>
          </p:nvPr>
        </p:nvSpPr>
        <p:spPr/>
        <p:txBody>
          <a:bodyPr/>
          <a:lstStyle/>
          <a:p>
            <a:fld id="{CB45BB48-16FF-455F-B94F-18102D1DFA82}" type="datetime1">
              <a:rPr lang="en-GB" smtClean="0"/>
              <a:t>09/02/2026</a:t>
            </a:fld>
            <a:endParaRPr lang="en-GB" dirty="0"/>
          </a:p>
        </p:txBody>
      </p:sp>
    </p:spTree>
    <p:extLst>
      <p:ext uri="{BB962C8B-B14F-4D97-AF65-F5344CB8AC3E}">
        <p14:creationId xmlns:p14="http://schemas.microsoft.com/office/powerpoint/2010/main" val="4165045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82B96-7D5C-5116-AB2F-2B0ECDD2E899}"/>
              </a:ext>
            </a:extLst>
          </p:cNvPr>
          <p:cNvSpPr>
            <a:spLocks noGrp="1"/>
          </p:cNvSpPr>
          <p:nvPr>
            <p:ph type="title"/>
          </p:nvPr>
        </p:nvSpPr>
        <p:spPr>
          <a:xfrm>
            <a:off x="798871" y="88958"/>
            <a:ext cx="10515600" cy="1325563"/>
          </a:xfrm>
        </p:spPr>
        <p:txBody>
          <a:bodyPr/>
          <a:lstStyle/>
          <a:p>
            <a:r>
              <a:rPr lang="en-IE" dirty="0"/>
              <a:t>Issues</a:t>
            </a:r>
          </a:p>
        </p:txBody>
      </p:sp>
      <p:sp>
        <p:nvSpPr>
          <p:cNvPr id="3" name="Content Placeholder 2">
            <a:extLst>
              <a:ext uri="{FF2B5EF4-FFF2-40B4-BE49-F238E27FC236}">
                <a16:creationId xmlns:a16="http://schemas.microsoft.com/office/drawing/2014/main" id="{A20C7E94-9774-08A3-4604-74971F850E56}"/>
              </a:ext>
            </a:extLst>
          </p:cNvPr>
          <p:cNvSpPr>
            <a:spLocks noGrp="1"/>
          </p:cNvSpPr>
          <p:nvPr>
            <p:ph idx="1"/>
          </p:nvPr>
        </p:nvSpPr>
        <p:spPr>
          <a:xfrm>
            <a:off x="848032" y="1253331"/>
            <a:ext cx="10515600" cy="3705005"/>
          </a:xfrm>
        </p:spPr>
        <p:txBody>
          <a:bodyPr vert="horz" lIns="91440" tIns="45720" rIns="91440" bIns="45720" rtlCol="0" anchor="t">
            <a:normAutofit fontScale="92500" lnSpcReduction="10000"/>
          </a:bodyPr>
          <a:lstStyle/>
          <a:p>
            <a:r>
              <a:rPr lang="en-IE" dirty="0"/>
              <a:t>RF amplifier bias. </a:t>
            </a:r>
            <a:endParaRPr lang="en-US" dirty="0">
              <a:highlight>
                <a:srgbClr val="00FF00"/>
              </a:highlight>
            </a:endParaRPr>
          </a:p>
          <a:p>
            <a:r>
              <a:rPr lang="en-IE" dirty="0"/>
              <a:t>op-amps gain (polarization controller).</a:t>
            </a:r>
            <a:endParaRPr lang="en-US" dirty="0">
              <a:highlight>
                <a:srgbClr val="00FF00"/>
              </a:highlight>
            </a:endParaRPr>
          </a:p>
          <a:p>
            <a:r>
              <a:rPr lang="en-IE" dirty="0"/>
              <a:t>SPI - SDI and SDO lines. </a:t>
            </a:r>
            <a:endParaRPr lang="en-US" dirty="0">
              <a:highlight>
                <a:srgbClr val="00FF00"/>
              </a:highlight>
            </a:endParaRPr>
          </a:p>
          <a:p>
            <a:r>
              <a:rPr lang="en-IE" dirty="0"/>
              <a:t>Short circuit I/O expander.</a:t>
            </a:r>
            <a:endParaRPr lang="en-US" dirty="0">
              <a:highlight>
                <a:srgbClr val="00FF00"/>
              </a:highlight>
            </a:endParaRPr>
          </a:p>
          <a:p>
            <a:r>
              <a:rPr lang="en-GB" dirty="0"/>
              <a:t>TEC PID Control (Resistor Adjustment) .</a:t>
            </a:r>
            <a:endParaRPr lang="en-US" dirty="0">
              <a:highlight>
                <a:srgbClr val="00FF00"/>
              </a:highlight>
            </a:endParaRPr>
          </a:p>
          <a:p>
            <a:r>
              <a:rPr lang="en-IE" dirty="0"/>
              <a:t>TEC controller bias. </a:t>
            </a:r>
            <a:endParaRPr lang="en-US" dirty="0">
              <a:highlight>
                <a:srgbClr val="00FF00"/>
              </a:highlight>
            </a:endParaRPr>
          </a:p>
          <a:p>
            <a:r>
              <a:rPr lang="en-IE" dirty="0"/>
              <a:t>UART–EDFA Digital signal levels.</a:t>
            </a:r>
            <a:endParaRPr lang="en-US" dirty="0">
              <a:highlight>
                <a:srgbClr val="00FF00"/>
              </a:highlight>
            </a:endParaRPr>
          </a:p>
          <a:p>
            <a:r>
              <a:rPr lang="en-IE" dirty="0"/>
              <a:t>Select input C - demultiplexer. </a:t>
            </a:r>
            <a:endParaRPr lang="en-US" dirty="0">
              <a:highlight>
                <a:srgbClr val="00FF00"/>
              </a:highlight>
            </a:endParaRPr>
          </a:p>
          <a:p>
            <a:pPr marL="0" indent="0">
              <a:buNone/>
            </a:pPr>
            <a:endParaRPr lang="en-US" dirty="0">
              <a:highlight>
                <a:srgbClr val="00FF00"/>
              </a:highlight>
            </a:endParaRPr>
          </a:p>
          <a:p>
            <a:pPr marL="0" indent="0">
              <a:buNone/>
            </a:pPr>
            <a:endParaRPr lang="en-IE" dirty="0"/>
          </a:p>
          <a:p>
            <a:endParaRPr lang="en-IE" dirty="0"/>
          </a:p>
        </p:txBody>
      </p:sp>
      <p:sp>
        <p:nvSpPr>
          <p:cNvPr id="4" name="Slide Number Placeholder 3">
            <a:extLst>
              <a:ext uri="{FF2B5EF4-FFF2-40B4-BE49-F238E27FC236}">
                <a16:creationId xmlns:a16="http://schemas.microsoft.com/office/drawing/2014/main" id="{28662F2A-1AAB-B41B-DF4F-50F81E8A3475}"/>
              </a:ext>
            </a:extLst>
          </p:cNvPr>
          <p:cNvSpPr>
            <a:spLocks noGrp="1"/>
          </p:cNvSpPr>
          <p:nvPr>
            <p:ph type="sldNum" sz="quarter" idx="12"/>
          </p:nvPr>
        </p:nvSpPr>
        <p:spPr/>
        <p:txBody>
          <a:bodyPr/>
          <a:lstStyle/>
          <a:p>
            <a:fld id="{B974A995-2F92-4FFE-87BE-1465EA15A0E7}" type="slidenum">
              <a:rPr lang="en-IE" smtClean="0"/>
              <a:t>2</a:t>
            </a:fld>
            <a:endParaRPr lang="en-IE"/>
          </a:p>
        </p:txBody>
      </p:sp>
      <p:sp>
        <p:nvSpPr>
          <p:cNvPr id="5" name="TextBox 4">
            <a:extLst>
              <a:ext uri="{FF2B5EF4-FFF2-40B4-BE49-F238E27FC236}">
                <a16:creationId xmlns:a16="http://schemas.microsoft.com/office/drawing/2014/main" id="{E85F0D95-2917-EE06-2E7E-08F7A20EEB29}"/>
              </a:ext>
            </a:extLst>
          </p:cNvPr>
          <p:cNvSpPr txBox="1"/>
          <p:nvPr/>
        </p:nvSpPr>
        <p:spPr>
          <a:xfrm>
            <a:off x="828368" y="4943663"/>
            <a:ext cx="9893030" cy="646331"/>
          </a:xfrm>
          <a:prstGeom prst="rect">
            <a:avLst/>
          </a:prstGeom>
          <a:noFill/>
        </p:spPr>
        <p:txBody>
          <a:bodyPr wrap="square">
            <a:spAutoFit/>
          </a:bodyPr>
          <a:lstStyle/>
          <a:p>
            <a:r>
              <a:rPr lang="en-IE" b="1" dirty="0"/>
              <a:t>Note 1: </a:t>
            </a:r>
            <a:r>
              <a:rPr lang="en-GB" dirty="0"/>
              <a:t>Even though all the issues have been identified and fixed in the schematics, the PCB layout has yet to be modified.</a:t>
            </a:r>
            <a:endParaRPr lang="en-IE" dirty="0"/>
          </a:p>
        </p:txBody>
      </p:sp>
      <p:sp>
        <p:nvSpPr>
          <p:cNvPr id="7" name="TextBox 6">
            <a:extLst>
              <a:ext uri="{FF2B5EF4-FFF2-40B4-BE49-F238E27FC236}">
                <a16:creationId xmlns:a16="http://schemas.microsoft.com/office/drawing/2014/main" id="{580326F1-A7FE-9750-F8A8-3E1E42287B04}"/>
              </a:ext>
            </a:extLst>
          </p:cNvPr>
          <p:cNvSpPr txBox="1"/>
          <p:nvPr/>
        </p:nvSpPr>
        <p:spPr>
          <a:xfrm>
            <a:off x="848032" y="5589994"/>
            <a:ext cx="9465013" cy="369332"/>
          </a:xfrm>
          <a:prstGeom prst="rect">
            <a:avLst/>
          </a:prstGeom>
          <a:noFill/>
        </p:spPr>
        <p:txBody>
          <a:bodyPr wrap="square">
            <a:spAutoFit/>
          </a:bodyPr>
          <a:lstStyle/>
          <a:p>
            <a:pPr marL="0" indent="0">
              <a:buNone/>
            </a:pPr>
            <a:r>
              <a:rPr lang="en-GB" b="1" dirty="0"/>
              <a:t>Note 2</a:t>
            </a:r>
            <a:r>
              <a:rPr lang="en-GB" dirty="0"/>
              <a:t>: All these issues have been logged in Redmine under </a:t>
            </a:r>
            <a:r>
              <a:rPr lang="en-IE" b="1" dirty="0">
                <a:highlight>
                  <a:srgbClr val="00FF00"/>
                </a:highlight>
              </a:rPr>
              <a:t>Bug #163</a:t>
            </a:r>
          </a:p>
        </p:txBody>
      </p:sp>
      <p:sp>
        <p:nvSpPr>
          <p:cNvPr id="9" name="TextBox 8">
            <a:extLst>
              <a:ext uri="{FF2B5EF4-FFF2-40B4-BE49-F238E27FC236}">
                <a16:creationId xmlns:a16="http://schemas.microsoft.com/office/drawing/2014/main" id="{340721A7-1CFF-17C6-FF63-F8D681F1E5F6}"/>
              </a:ext>
            </a:extLst>
          </p:cNvPr>
          <p:cNvSpPr txBox="1"/>
          <p:nvPr/>
        </p:nvSpPr>
        <p:spPr>
          <a:xfrm>
            <a:off x="848031" y="5938043"/>
            <a:ext cx="9249279" cy="646331"/>
          </a:xfrm>
          <a:prstGeom prst="rect">
            <a:avLst/>
          </a:prstGeom>
          <a:noFill/>
        </p:spPr>
        <p:txBody>
          <a:bodyPr wrap="square">
            <a:spAutoFit/>
          </a:bodyPr>
          <a:lstStyle/>
          <a:p>
            <a:r>
              <a:rPr lang="en-GB" b="1" dirty="0"/>
              <a:t>Note 3</a:t>
            </a:r>
            <a:r>
              <a:rPr lang="en-GB" dirty="0"/>
              <a:t>: The xDAC3 Altium files are in here: </a:t>
            </a:r>
            <a:r>
              <a:rPr lang="en-US" altLang="en-US" dirty="0" err="1">
                <a:latin typeface="Arial" panose="020B0604020202020204" pitchFamily="34" charset="0"/>
                <a:hlinkClick r:id="rId2"/>
              </a:rPr>
              <a:t>xDAC</a:t>
            </a:r>
            <a:r>
              <a:rPr lang="en-US" altLang="en-US" dirty="0">
                <a:latin typeface="Arial" panose="020B0604020202020204" pitchFamily="34" charset="0"/>
                <a:hlinkClick r:id="rId2"/>
              </a:rPr>
              <a:t> carrier V3</a:t>
            </a:r>
            <a:endParaRPr lang="en-US" altLang="en-US" dirty="0">
              <a:latin typeface="Arial" panose="020B0604020202020204" pitchFamily="34" charset="0"/>
            </a:endParaRPr>
          </a:p>
          <a:p>
            <a:r>
              <a:rPr lang="en-GB" dirty="0"/>
              <a:t> </a:t>
            </a:r>
            <a:endParaRPr lang="en-IE" dirty="0"/>
          </a:p>
        </p:txBody>
      </p:sp>
    </p:spTree>
    <p:extLst>
      <p:ext uri="{BB962C8B-B14F-4D97-AF65-F5344CB8AC3E}">
        <p14:creationId xmlns:p14="http://schemas.microsoft.com/office/powerpoint/2010/main" val="2496329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16BB4-EB54-5F12-6FC3-7FC98CB2AB5D}"/>
              </a:ext>
            </a:extLst>
          </p:cNvPr>
          <p:cNvSpPr>
            <a:spLocks noGrp="1"/>
          </p:cNvSpPr>
          <p:nvPr>
            <p:ph type="title"/>
          </p:nvPr>
        </p:nvSpPr>
        <p:spPr/>
        <p:txBody>
          <a:bodyPr/>
          <a:lstStyle/>
          <a:p>
            <a:r>
              <a:rPr lang="en-GB" dirty="0"/>
              <a:t>Improvements</a:t>
            </a:r>
            <a:endParaRPr lang="en-IE" dirty="0"/>
          </a:p>
        </p:txBody>
      </p:sp>
      <p:sp>
        <p:nvSpPr>
          <p:cNvPr id="3" name="Content Placeholder 2">
            <a:extLst>
              <a:ext uri="{FF2B5EF4-FFF2-40B4-BE49-F238E27FC236}">
                <a16:creationId xmlns:a16="http://schemas.microsoft.com/office/drawing/2014/main" id="{A92D9288-760C-C32A-392F-9C69F0182C6E}"/>
              </a:ext>
            </a:extLst>
          </p:cNvPr>
          <p:cNvSpPr>
            <a:spLocks noGrp="1"/>
          </p:cNvSpPr>
          <p:nvPr>
            <p:ph idx="1"/>
          </p:nvPr>
        </p:nvSpPr>
        <p:spPr>
          <a:xfrm>
            <a:off x="838200" y="1456916"/>
            <a:ext cx="10515600" cy="4351338"/>
          </a:xfrm>
        </p:spPr>
        <p:txBody>
          <a:bodyPr/>
          <a:lstStyle/>
          <a:p>
            <a:r>
              <a:rPr lang="en-GB" dirty="0"/>
              <a:t>Power supply. </a:t>
            </a:r>
            <a:r>
              <a:rPr lang="en-GB" dirty="0">
                <a:highlight>
                  <a:srgbClr val="FFFF00"/>
                </a:highlight>
              </a:rPr>
              <a:t>Not implemented but under test.</a:t>
            </a:r>
          </a:p>
          <a:p>
            <a:pPr marL="0" indent="0">
              <a:buNone/>
            </a:pPr>
            <a:endParaRPr lang="en-GB" dirty="0">
              <a:highlight>
                <a:srgbClr val="FFFF00"/>
              </a:highlight>
            </a:endParaRPr>
          </a:p>
          <a:p>
            <a:pPr marL="0" indent="0">
              <a:buNone/>
            </a:pPr>
            <a:r>
              <a:rPr lang="en-GB" dirty="0"/>
              <a:t>Will the following circuits be implemented in the </a:t>
            </a:r>
            <a:r>
              <a:rPr lang="en-GB" dirty="0" err="1"/>
              <a:t>xDAC</a:t>
            </a:r>
            <a:r>
              <a:rPr lang="en-GB" dirty="0"/>
              <a:t>?</a:t>
            </a:r>
          </a:p>
          <a:p>
            <a:pPr marL="0" indent="0">
              <a:buNone/>
            </a:pPr>
            <a:endParaRPr lang="en-GB" dirty="0">
              <a:highlight>
                <a:srgbClr val="FFFF00"/>
              </a:highlight>
            </a:endParaRPr>
          </a:p>
          <a:p>
            <a:r>
              <a:rPr lang="en-GB" dirty="0"/>
              <a:t>Voltage suppression detection. </a:t>
            </a:r>
            <a:r>
              <a:rPr lang="en-GB" dirty="0">
                <a:highlight>
                  <a:srgbClr val="FFFF00"/>
                </a:highlight>
              </a:rPr>
              <a:t>Not implemented but under test.</a:t>
            </a:r>
            <a:endParaRPr lang="en-GB" dirty="0"/>
          </a:p>
          <a:p>
            <a:r>
              <a:rPr lang="en-GB" dirty="0"/>
              <a:t>PD circuit  for </a:t>
            </a:r>
            <a:r>
              <a:rPr lang="en-IE" dirty="0"/>
              <a:t>measure the</a:t>
            </a:r>
            <a:r>
              <a:rPr lang="en-GB" dirty="0"/>
              <a:t> </a:t>
            </a:r>
            <a:r>
              <a:rPr lang="en-IE" dirty="0"/>
              <a:t>injection locking signal, </a:t>
            </a:r>
            <a:r>
              <a:rPr lang="en-GB" dirty="0">
                <a:highlight>
                  <a:srgbClr val="FFFF00"/>
                </a:highlight>
              </a:rPr>
              <a:t>Not implemented but under test</a:t>
            </a:r>
          </a:p>
          <a:p>
            <a:endParaRPr lang="en-IE" dirty="0"/>
          </a:p>
        </p:txBody>
      </p:sp>
      <p:sp>
        <p:nvSpPr>
          <p:cNvPr id="4" name="Slide Number Placeholder 3">
            <a:extLst>
              <a:ext uri="{FF2B5EF4-FFF2-40B4-BE49-F238E27FC236}">
                <a16:creationId xmlns:a16="http://schemas.microsoft.com/office/drawing/2014/main" id="{912B6D31-95F2-E866-86EE-11C1FC94A051}"/>
              </a:ext>
            </a:extLst>
          </p:cNvPr>
          <p:cNvSpPr>
            <a:spLocks noGrp="1"/>
          </p:cNvSpPr>
          <p:nvPr>
            <p:ph type="sldNum" sz="quarter" idx="12"/>
          </p:nvPr>
        </p:nvSpPr>
        <p:spPr/>
        <p:txBody>
          <a:bodyPr/>
          <a:lstStyle/>
          <a:p>
            <a:fld id="{B974A995-2F92-4FFE-87BE-1465EA15A0E7}" type="slidenum">
              <a:rPr lang="en-IE" smtClean="0"/>
              <a:t>3</a:t>
            </a:fld>
            <a:endParaRPr lang="en-IE"/>
          </a:p>
        </p:txBody>
      </p:sp>
    </p:spTree>
    <p:extLst>
      <p:ext uri="{BB962C8B-B14F-4D97-AF65-F5344CB8AC3E}">
        <p14:creationId xmlns:p14="http://schemas.microsoft.com/office/powerpoint/2010/main" val="931396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DC321-9FF6-5B59-B962-9705F0B3603B}"/>
              </a:ext>
            </a:extLst>
          </p:cNvPr>
          <p:cNvSpPr>
            <a:spLocks noGrp="1"/>
          </p:cNvSpPr>
          <p:nvPr>
            <p:ph type="title"/>
          </p:nvPr>
        </p:nvSpPr>
        <p:spPr>
          <a:xfrm>
            <a:off x="653845" y="135732"/>
            <a:ext cx="10515600" cy="1325563"/>
          </a:xfrm>
        </p:spPr>
        <p:txBody>
          <a:bodyPr/>
          <a:lstStyle/>
          <a:p>
            <a:r>
              <a:rPr lang="en-IE" b="1" dirty="0"/>
              <a:t>Summary of Issues:</a:t>
            </a:r>
            <a:endParaRPr lang="en-IE" dirty="0"/>
          </a:p>
        </p:txBody>
      </p:sp>
      <p:sp>
        <p:nvSpPr>
          <p:cNvPr id="4" name="Slide Number Placeholder 3">
            <a:extLst>
              <a:ext uri="{FF2B5EF4-FFF2-40B4-BE49-F238E27FC236}">
                <a16:creationId xmlns:a16="http://schemas.microsoft.com/office/drawing/2014/main" id="{EA9C954E-2CF6-F8FF-E075-BA6730A2D940}"/>
              </a:ext>
            </a:extLst>
          </p:cNvPr>
          <p:cNvSpPr>
            <a:spLocks noGrp="1"/>
          </p:cNvSpPr>
          <p:nvPr>
            <p:ph type="sldNum" sz="quarter" idx="12"/>
          </p:nvPr>
        </p:nvSpPr>
        <p:spPr/>
        <p:txBody>
          <a:bodyPr/>
          <a:lstStyle/>
          <a:p>
            <a:fld id="{B974A995-2F92-4FFE-87BE-1465EA15A0E7}" type="slidenum">
              <a:rPr lang="en-IE" smtClean="0"/>
              <a:t>4</a:t>
            </a:fld>
            <a:endParaRPr lang="en-IE"/>
          </a:p>
        </p:txBody>
      </p:sp>
      <p:sp>
        <p:nvSpPr>
          <p:cNvPr id="6" name="TextBox 5">
            <a:extLst>
              <a:ext uri="{FF2B5EF4-FFF2-40B4-BE49-F238E27FC236}">
                <a16:creationId xmlns:a16="http://schemas.microsoft.com/office/drawing/2014/main" id="{DC1E038D-24E7-509F-19EB-6A911FBFF309}"/>
              </a:ext>
            </a:extLst>
          </p:cNvPr>
          <p:cNvSpPr txBox="1"/>
          <p:nvPr/>
        </p:nvSpPr>
        <p:spPr>
          <a:xfrm>
            <a:off x="469491" y="1938823"/>
            <a:ext cx="10884309" cy="646331"/>
          </a:xfrm>
          <a:prstGeom prst="rect">
            <a:avLst/>
          </a:prstGeom>
          <a:noFill/>
        </p:spPr>
        <p:txBody>
          <a:bodyPr wrap="square" lIns="91440" tIns="45720" rIns="91440" bIns="45720" anchor="t">
            <a:spAutoFit/>
          </a:bodyPr>
          <a:lstStyle/>
          <a:p>
            <a:pPr marL="285750" indent="-285750">
              <a:lnSpc>
                <a:spcPct val="100000"/>
              </a:lnSpc>
              <a:buFont typeface="Arial"/>
              <a:buChar char="•"/>
            </a:pPr>
            <a:r>
              <a:rPr lang="en-US" sz="1800" dirty="0"/>
              <a:t>Change the 8V rail to 12V. The RF amplifier requires a voltage higher than 9V, so 8V is not sufficient to bias it. </a:t>
            </a:r>
            <a:endParaRPr lang="en-US" sz="1800" dirty="0">
              <a:highlight>
                <a:srgbClr val="00FF00"/>
              </a:highlight>
            </a:endParaRPr>
          </a:p>
        </p:txBody>
      </p:sp>
      <p:pic>
        <p:nvPicPr>
          <p:cNvPr id="7" name="Picture 6" descr="A computer screen shot of a circuit board&#10;&#10;AI-generated content may be incorrect.">
            <a:extLst>
              <a:ext uri="{FF2B5EF4-FFF2-40B4-BE49-F238E27FC236}">
                <a16:creationId xmlns:a16="http://schemas.microsoft.com/office/drawing/2014/main" id="{78E4E7AA-902C-4FF9-AB78-043C326DE235}"/>
              </a:ext>
            </a:extLst>
          </p:cNvPr>
          <p:cNvPicPr>
            <a:picLocks noChangeAspect="1"/>
          </p:cNvPicPr>
          <p:nvPr/>
        </p:nvPicPr>
        <p:blipFill>
          <a:blip r:embed="rId2"/>
          <a:stretch>
            <a:fillRect/>
          </a:stretch>
        </p:blipFill>
        <p:spPr>
          <a:xfrm>
            <a:off x="2328153" y="2585154"/>
            <a:ext cx="7535694" cy="3331426"/>
          </a:xfrm>
          <a:prstGeom prst="rect">
            <a:avLst/>
          </a:prstGeom>
        </p:spPr>
      </p:pic>
      <p:sp>
        <p:nvSpPr>
          <p:cNvPr id="11" name="TextBox 10">
            <a:extLst>
              <a:ext uri="{FF2B5EF4-FFF2-40B4-BE49-F238E27FC236}">
                <a16:creationId xmlns:a16="http://schemas.microsoft.com/office/drawing/2014/main" id="{B5C8DC78-761A-C729-0983-28D150B3C7A3}"/>
              </a:ext>
            </a:extLst>
          </p:cNvPr>
          <p:cNvSpPr txBox="1"/>
          <p:nvPr/>
        </p:nvSpPr>
        <p:spPr>
          <a:xfrm>
            <a:off x="690716" y="1387750"/>
            <a:ext cx="6223818" cy="523220"/>
          </a:xfrm>
          <a:prstGeom prst="rect">
            <a:avLst/>
          </a:prstGeom>
          <a:noFill/>
        </p:spPr>
        <p:txBody>
          <a:bodyPr wrap="square">
            <a:spAutoFit/>
          </a:bodyPr>
          <a:lstStyle/>
          <a:p>
            <a:r>
              <a:rPr lang="en-IE" sz="2800" b="1" dirty="0"/>
              <a:t>RF Amplifier Bias</a:t>
            </a:r>
            <a:r>
              <a:rPr lang="en-IE" sz="2800" dirty="0"/>
              <a:t> </a:t>
            </a:r>
          </a:p>
        </p:txBody>
      </p:sp>
    </p:spTree>
    <p:extLst>
      <p:ext uri="{BB962C8B-B14F-4D97-AF65-F5344CB8AC3E}">
        <p14:creationId xmlns:p14="http://schemas.microsoft.com/office/powerpoint/2010/main" val="3659508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34540-6F5B-EA42-8D6F-DE007E71D300}"/>
              </a:ext>
            </a:extLst>
          </p:cNvPr>
          <p:cNvSpPr>
            <a:spLocks noGrp="1"/>
          </p:cNvSpPr>
          <p:nvPr>
            <p:ph type="title"/>
          </p:nvPr>
        </p:nvSpPr>
        <p:spPr>
          <a:noFill/>
        </p:spPr>
        <p:txBody>
          <a:bodyPr wrap="square">
            <a:spAutoFit/>
          </a:bodyPr>
          <a:lstStyle/>
          <a:p>
            <a:r>
              <a:rPr lang="en-IE" sz="2800" b="1" dirty="0">
                <a:latin typeface="+mn-lt"/>
                <a:ea typeface="+mn-ea"/>
                <a:cs typeface="+mn-cs"/>
              </a:rPr>
              <a:t>Op-Amp Gain (Polarization Controller)</a:t>
            </a:r>
          </a:p>
        </p:txBody>
      </p:sp>
      <p:sp>
        <p:nvSpPr>
          <p:cNvPr id="4" name="Slide Number Placeholder 3">
            <a:extLst>
              <a:ext uri="{FF2B5EF4-FFF2-40B4-BE49-F238E27FC236}">
                <a16:creationId xmlns:a16="http://schemas.microsoft.com/office/drawing/2014/main" id="{6E30AA67-AFAB-A4DC-FD3E-B86D44BBD159}"/>
              </a:ext>
            </a:extLst>
          </p:cNvPr>
          <p:cNvSpPr>
            <a:spLocks noGrp="1"/>
          </p:cNvSpPr>
          <p:nvPr>
            <p:ph type="sldNum" sz="quarter" idx="12"/>
          </p:nvPr>
        </p:nvSpPr>
        <p:spPr/>
        <p:txBody>
          <a:bodyPr/>
          <a:lstStyle/>
          <a:p>
            <a:fld id="{B974A995-2F92-4FFE-87BE-1465EA15A0E7}" type="slidenum">
              <a:rPr lang="en-IE" smtClean="0"/>
              <a:t>5</a:t>
            </a:fld>
            <a:endParaRPr lang="en-IE"/>
          </a:p>
        </p:txBody>
      </p:sp>
      <p:sp>
        <p:nvSpPr>
          <p:cNvPr id="8" name="TextBox 7">
            <a:extLst>
              <a:ext uri="{FF2B5EF4-FFF2-40B4-BE49-F238E27FC236}">
                <a16:creationId xmlns:a16="http://schemas.microsoft.com/office/drawing/2014/main" id="{05981668-9F25-0F20-8FDE-75DF21A2B31F}"/>
              </a:ext>
            </a:extLst>
          </p:cNvPr>
          <p:cNvSpPr txBox="1"/>
          <p:nvPr/>
        </p:nvSpPr>
        <p:spPr>
          <a:xfrm>
            <a:off x="688258" y="1802477"/>
            <a:ext cx="10665542" cy="968470"/>
          </a:xfrm>
          <a:prstGeom prst="rect">
            <a:avLst/>
          </a:prstGeom>
          <a:noFill/>
        </p:spPr>
        <p:txBody>
          <a:bodyPr wrap="square" lIns="91440" tIns="45720" rIns="91440" bIns="45720" anchor="t">
            <a:spAutoFit/>
          </a:bodyPr>
          <a:lstStyle/>
          <a:p>
            <a:pPr marL="285750" indent="-285750">
              <a:lnSpc>
                <a:spcPct val="90000"/>
              </a:lnSpc>
              <a:spcBef>
                <a:spcPts val="1000"/>
              </a:spcBef>
              <a:buFont typeface="Arial"/>
              <a:buChar char="•"/>
            </a:pPr>
            <a:r>
              <a:rPr lang="en-US" dirty="0"/>
              <a:t>R60, R58, R71, and R72 must be removed as they are causing incorrect performance in the OPAMP configuration. </a:t>
            </a:r>
            <a:endParaRPr lang="en-US" dirty="0">
              <a:highlight>
                <a:srgbClr val="00FF00"/>
              </a:highlight>
            </a:endParaRPr>
          </a:p>
          <a:p>
            <a:pPr marL="285750" indent="-285750">
              <a:lnSpc>
                <a:spcPct val="90000"/>
              </a:lnSpc>
              <a:spcBef>
                <a:spcPts val="1000"/>
              </a:spcBef>
              <a:buFont typeface="Arial"/>
              <a:buChar char="•"/>
            </a:pPr>
            <a:r>
              <a:rPr lang="en-US" dirty="0"/>
              <a:t>R61, R56, R69, and R74 should be replaced with </a:t>
            </a:r>
            <a:r>
              <a:rPr lang="en-US" dirty="0">
                <a:solidFill>
                  <a:srgbClr val="FF0000"/>
                </a:solidFill>
              </a:rPr>
              <a:t>30K</a:t>
            </a:r>
            <a:r>
              <a:rPr lang="en-US" dirty="0"/>
              <a:t> resistors. </a:t>
            </a:r>
            <a:endParaRPr lang="en-US" dirty="0">
              <a:highlight>
                <a:srgbClr val="00FF00"/>
              </a:highlight>
            </a:endParaRPr>
          </a:p>
        </p:txBody>
      </p:sp>
      <p:sp>
        <p:nvSpPr>
          <p:cNvPr id="9" name="TextBox 10">
            <a:extLst>
              <a:ext uri="{FF2B5EF4-FFF2-40B4-BE49-F238E27FC236}">
                <a16:creationId xmlns:a16="http://schemas.microsoft.com/office/drawing/2014/main" id="{279BBF14-4A16-DE9B-0F65-986DD8E51488}"/>
              </a:ext>
            </a:extLst>
          </p:cNvPr>
          <p:cNvSpPr txBox="1"/>
          <p:nvPr/>
        </p:nvSpPr>
        <p:spPr>
          <a:xfrm>
            <a:off x="641126" y="3055815"/>
            <a:ext cx="2953624"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a:t>Current design </a:t>
            </a:r>
            <a:endParaRPr lang="en-US"/>
          </a:p>
        </p:txBody>
      </p:sp>
      <p:pic>
        <p:nvPicPr>
          <p:cNvPr id="12" name="Picture 11" descr="A computer screen shot of a circuit board">
            <a:extLst>
              <a:ext uri="{FF2B5EF4-FFF2-40B4-BE49-F238E27FC236}">
                <a16:creationId xmlns:a16="http://schemas.microsoft.com/office/drawing/2014/main" id="{22DD6E22-79CB-9977-5A9B-5980F766D4F1}"/>
              </a:ext>
            </a:extLst>
          </p:cNvPr>
          <p:cNvPicPr>
            <a:picLocks noChangeAspect="1"/>
          </p:cNvPicPr>
          <p:nvPr/>
        </p:nvPicPr>
        <p:blipFill>
          <a:blip r:embed="rId2"/>
          <a:stretch>
            <a:fillRect/>
          </a:stretch>
        </p:blipFill>
        <p:spPr>
          <a:xfrm>
            <a:off x="491613" y="2975410"/>
            <a:ext cx="11208774" cy="2746616"/>
          </a:xfrm>
          <a:prstGeom prst="rect">
            <a:avLst/>
          </a:prstGeom>
        </p:spPr>
      </p:pic>
    </p:spTree>
    <p:extLst>
      <p:ext uri="{BB962C8B-B14F-4D97-AF65-F5344CB8AC3E}">
        <p14:creationId xmlns:p14="http://schemas.microsoft.com/office/powerpoint/2010/main" val="632777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87548D-CE4D-9903-DE74-D563D127E7F8}"/>
              </a:ext>
            </a:extLst>
          </p:cNvPr>
          <p:cNvSpPr>
            <a:spLocks noGrp="1"/>
          </p:cNvSpPr>
          <p:nvPr>
            <p:ph type="sldNum" sz="quarter" idx="12"/>
          </p:nvPr>
        </p:nvSpPr>
        <p:spPr/>
        <p:txBody>
          <a:bodyPr/>
          <a:lstStyle/>
          <a:p>
            <a:fld id="{B974A995-2F92-4FFE-87BE-1465EA15A0E7}" type="slidenum">
              <a:rPr lang="en-IE" smtClean="0"/>
              <a:t>6</a:t>
            </a:fld>
            <a:endParaRPr lang="en-IE"/>
          </a:p>
        </p:txBody>
      </p:sp>
      <p:sp>
        <p:nvSpPr>
          <p:cNvPr id="6" name="TextBox 5">
            <a:extLst>
              <a:ext uri="{FF2B5EF4-FFF2-40B4-BE49-F238E27FC236}">
                <a16:creationId xmlns:a16="http://schemas.microsoft.com/office/drawing/2014/main" id="{17EE88FC-B34D-6A5D-3218-FD469F9879F6}"/>
              </a:ext>
            </a:extLst>
          </p:cNvPr>
          <p:cNvSpPr txBox="1"/>
          <p:nvPr/>
        </p:nvSpPr>
        <p:spPr>
          <a:xfrm>
            <a:off x="309715" y="1271947"/>
            <a:ext cx="10943303" cy="1477328"/>
          </a:xfrm>
          <a:prstGeom prst="rect">
            <a:avLst/>
          </a:prstGeom>
          <a:noFill/>
        </p:spPr>
        <p:txBody>
          <a:bodyPr wrap="square" lIns="91440" tIns="45720" rIns="91440" bIns="45720" anchor="t">
            <a:spAutoFit/>
          </a:bodyPr>
          <a:lstStyle/>
          <a:p>
            <a:r>
              <a:rPr lang="en-US" dirty="0"/>
              <a:t>The IC U36 (SN74LV07APWR, buffer) does not allow successful data flow on the SDI and SDO lines. The buffer is unidirectional.​ This issue only affects the </a:t>
            </a:r>
            <a:r>
              <a:rPr lang="en-US" dirty="0" err="1"/>
              <a:t>iDACs</a:t>
            </a:r>
            <a:r>
              <a:rPr lang="en-US" dirty="0"/>
              <a:t>, meaning that other devices connected to the SPI interface function properly.</a:t>
            </a:r>
          </a:p>
          <a:p>
            <a:pPr marL="285750" indent="-285750">
              <a:buFont typeface="Arial"/>
              <a:buChar char="•"/>
            </a:pPr>
            <a:r>
              <a:rPr lang="en-US" dirty="0"/>
              <a:t>C_SDO should have been connected to the output pin instead of the input pin. Similarly, C_SDI should have been connected to the input pin instead of the output pin. </a:t>
            </a:r>
            <a:r>
              <a:rPr lang="en-US" dirty="0">
                <a:highlight>
                  <a:srgbClr val="00FF00"/>
                </a:highlight>
              </a:rPr>
              <a:t>R</a:t>
            </a:r>
            <a:endParaRPr lang="en-US" dirty="0"/>
          </a:p>
        </p:txBody>
      </p:sp>
      <p:pic>
        <p:nvPicPr>
          <p:cNvPr id="7" name="Picture 6" descr="A computer screen shot of a circuit board&#10;&#10;AI-generated content may be incorrect.">
            <a:extLst>
              <a:ext uri="{FF2B5EF4-FFF2-40B4-BE49-F238E27FC236}">
                <a16:creationId xmlns:a16="http://schemas.microsoft.com/office/drawing/2014/main" id="{E8F86E64-730A-6B69-AF64-E752C1CC8E1D}"/>
              </a:ext>
            </a:extLst>
          </p:cNvPr>
          <p:cNvPicPr>
            <a:picLocks noChangeAspect="1"/>
          </p:cNvPicPr>
          <p:nvPr/>
        </p:nvPicPr>
        <p:blipFill>
          <a:blip r:embed="rId2"/>
          <a:stretch>
            <a:fillRect/>
          </a:stretch>
        </p:blipFill>
        <p:spPr>
          <a:xfrm>
            <a:off x="2356526" y="3251218"/>
            <a:ext cx="7056158" cy="3471050"/>
          </a:xfrm>
          <a:prstGeom prst="rect">
            <a:avLst/>
          </a:prstGeom>
        </p:spPr>
      </p:pic>
      <p:sp>
        <p:nvSpPr>
          <p:cNvPr id="8" name="Title 1">
            <a:extLst>
              <a:ext uri="{FF2B5EF4-FFF2-40B4-BE49-F238E27FC236}">
                <a16:creationId xmlns:a16="http://schemas.microsoft.com/office/drawing/2014/main" id="{B0B3DC15-40C2-9F87-3BB9-95FFA4081396}"/>
              </a:ext>
            </a:extLst>
          </p:cNvPr>
          <p:cNvSpPr txBox="1">
            <a:spLocks/>
          </p:cNvSpPr>
          <p:nvPr/>
        </p:nvSpPr>
        <p:spPr>
          <a:xfrm>
            <a:off x="838200" y="365125"/>
            <a:ext cx="10515600" cy="1325563"/>
          </a:xfrm>
          <a:prstGeom prst="rect">
            <a:avLst/>
          </a:prstGeom>
          <a:noFill/>
        </p:spPr>
        <p:txBody>
          <a:bodyPr wrap="square">
            <a:spAutoFit/>
          </a:bodyPr>
          <a:lstStyle>
            <a:defPPr>
              <a:defRPr lang="en-US"/>
            </a:defPPr>
            <a:lvl1pPr>
              <a:defRPr sz="2800" b="1"/>
            </a:lvl1pPr>
          </a:lstStyle>
          <a:p>
            <a:r>
              <a:rPr lang="en-IE" dirty="0"/>
              <a:t>SPI - SDI and SDO lines.</a:t>
            </a:r>
          </a:p>
        </p:txBody>
      </p:sp>
    </p:spTree>
    <p:extLst>
      <p:ext uri="{BB962C8B-B14F-4D97-AF65-F5344CB8AC3E}">
        <p14:creationId xmlns:p14="http://schemas.microsoft.com/office/powerpoint/2010/main" val="1611372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FF7DD-D0F6-C00C-5D73-F5D3E03B2BD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BD0D80-B19A-09F0-EC4A-873D40B7043E}"/>
              </a:ext>
            </a:extLst>
          </p:cNvPr>
          <p:cNvSpPr>
            <a:spLocks noGrp="1"/>
          </p:cNvSpPr>
          <p:nvPr>
            <p:ph type="sldNum" sz="quarter" idx="12"/>
          </p:nvPr>
        </p:nvSpPr>
        <p:spPr/>
        <p:txBody>
          <a:bodyPr/>
          <a:lstStyle/>
          <a:p>
            <a:fld id="{B974A995-2F92-4FFE-87BE-1465EA15A0E7}" type="slidenum">
              <a:rPr lang="en-IE" smtClean="0"/>
              <a:t>7</a:t>
            </a:fld>
            <a:endParaRPr lang="en-IE"/>
          </a:p>
        </p:txBody>
      </p:sp>
      <p:sp>
        <p:nvSpPr>
          <p:cNvPr id="3" name="Title 1">
            <a:extLst>
              <a:ext uri="{FF2B5EF4-FFF2-40B4-BE49-F238E27FC236}">
                <a16:creationId xmlns:a16="http://schemas.microsoft.com/office/drawing/2014/main" id="{6FE1318C-1ADF-D444-B475-C41C2C869416}"/>
              </a:ext>
            </a:extLst>
          </p:cNvPr>
          <p:cNvSpPr txBox="1">
            <a:spLocks/>
          </p:cNvSpPr>
          <p:nvPr/>
        </p:nvSpPr>
        <p:spPr>
          <a:xfrm>
            <a:off x="838200" y="365125"/>
            <a:ext cx="10515600" cy="1325563"/>
          </a:xfrm>
          <a:prstGeom prst="rect">
            <a:avLst/>
          </a:prstGeom>
          <a:noFill/>
        </p:spPr>
        <p:txBody>
          <a:bodyPr wrap="square">
            <a:spAutoFit/>
          </a:bodyPr>
          <a:lstStyle>
            <a:defPPr>
              <a:defRPr lang="en-US"/>
            </a:defPPr>
            <a:lvl1pPr>
              <a:defRPr sz="2800" b="1"/>
            </a:lvl1pPr>
          </a:lstStyle>
          <a:p>
            <a:r>
              <a:rPr lang="en-IE" dirty="0"/>
              <a:t>I/O Expander — Short-Circuit</a:t>
            </a:r>
          </a:p>
        </p:txBody>
      </p:sp>
      <p:sp>
        <p:nvSpPr>
          <p:cNvPr id="5" name="TextBox 4">
            <a:extLst>
              <a:ext uri="{FF2B5EF4-FFF2-40B4-BE49-F238E27FC236}">
                <a16:creationId xmlns:a16="http://schemas.microsoft.com/office/drawing/2014/main" id="{ECF708C4-9768-02B6-2FB8-D958057BCA09}"/>
              </a:ext>
            </a:extLst>
          </p:cNvPr>
          <p:cNvSpPr txBox="1"/>
          <p:nvPr/>
        </p:nvSpPr>
        <p:spPr>
          <a:xfrm>
            <a:off x="516194" y="1239231"/>
            <a:ext cx="11675806" cy="923330"/>
          </a:xfrm>
          <a:prstGeom prst="rect">
            <a:avLst/>
          </a:prstGeom>
          <a:noFill/>
        </p:spPr>
        <p:txBody>
          <a:bodyPr wrap="square" lIns="91440" tIns="45720" rIns="91440" bIns="45720" anchor="t">
            <a:spAutoFit/>
          </a:bodyPr>
          <a:lstStyle/>
          <a:p>
            <a:pPr marL="285750" indent="-285750">
              <a:buFont typeface="Arial"/>
              <a:buChar char="•"/>
            </a:pPr>
            <a:r>
              <a:rPr lang="en-US" dirty="0"/>
              <a:t>The inputs GPB1 (pin 26), GPB2 (pin 27), and GPB3 (pin 28) on the IC U2 (MCP23S17) must be disconnected from the signals C1_V-, C2_V-, and C3_V-. These signals carry negative voltages, causing a short circuit on the PCB.</a:t>
            </a:r>
            <a:r>
              <a:rPr lang="en-US" dirty="0">
                <a:highlight>
                  <a:srgbClr val="00FF00"/>
                </a:highlight>
              </a:rPr>
              <a:t> </a:t>
            </a:r>
          </a:p>
          <a:p>
            <a:pPr marL="285750" indent="-285750">
              <a:buFont typeface="Arial"/>
              <a:buChar char="•"/>
            </a:pPr>
            <a:r>
              <a:rPr lang="en-US" dirty="0"/>
              <a:t>These inputs should instead be connected to VCC using pull-up resistors. </a:t>
            </a:r>
            <a:endParaRPr lang="en-US">
              <a:highlight>
                <a:srgbClr val="00FF00"/>
              </a:highlight>
            </a:endParaRPr>
          </a:p>
        </p:txBody>
      </p:sp>
      <p:pic>
        <p:nvPicPr>
          <p:cNvPr id="6" name="Picture 5" descr="A screenshot of a computer&#10;&#10;AI-generated content may be incorrect.">
            <a:extLst>
              <a:ext uri="{FF2B5EF4-FFF2-40B4-BE49-F238E27FC236}">
                <a16:creationId xmlns:a16="http://schemas.microsoft.com/office/drawing/2014/main" id="{BB7D8C27-F429-C7B8-679A-3F0B5D43C7B5}"/>
              </a:ext>
            </a:extLst>
          </p:cNvPr>
          <p:cNvPicPr>
            <a:picLocks noChangeAspect="1"/>
          </p:cNvPicPr>
          <p:nvPr/>
        </p:nvPicPr>
        <p:blipFill>
          <a:blip r:embed="rId2"/>
          <a:stretch>
            <a:fillRect/>
          </a:stretch>
        </p:blipFill>
        <p:spPr>
          <a:xfrm>
            <a:off x="2238419" y="2542298"/>
            <a:ext cx="7715162" cy="3712106"/>
          </a:xfrm>
          <a:prstGeom prst="rect">
            <a:avLst/>
          </a:prstGeom>
        </p:spPr>
      </p:pic>
    </p:spTree>
    <p:extLst>
      <p:ext uri="{BB962C8B-B14F-4D97-AF65-F5344CB8AC3E}">
        <p14:creationId xmlns:p14="http://schemas.microsoft.com/office/powerpoint/2010/main" val="2118806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9AE6C-F23F-789F-54D4-38DFA805609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BC8FEC-DF10-D51F-F781-EB020FD35556}"/>
              </a:ext>
            </a:extLst>
          </p:cNvPr>
          <p:cNvSpPr>
            <a:spLocks noGrp="1"/>
          </p:cNvSpPr>
          <p:nvPr>
            <p:ph type="sldNum" sz="quarter" idx="12"/>
          </p:nvPr>
        </p:nvSpPr>
        <p:spPr/>
        <p:txBody>
          <a:bodyPr/>
          <a:lstStyle/>
          <a:p>
            <a:fld id="{B974A995-2F92-4FFE-87BE-1465EA15A0E7}" type="slidenum">
              <a:rPr lang="en-IE" smtClean="0"/>
              <a:t>8</a:t>
            </a:fld>
            <a:endParaRPr lang="en-IE"/>
          </a:p>
        </p:txBody>
      </p:sp>
      <p:sp>
        <p:nvSpPr>
          <p:cNvPr id="5" name="Title 1">
            <a:extLst>
              <a:ext uri="{FF2B5EF4-FFF2-40B4-BE49-F238E27FC236}">
                <a16:creationId xmlns:a16="http://schemas.microsoft.com/office/drawing/2014/main" id="{B0F57540-9C83-7CB0-84C4-0AA68683233A}"/>
              </a:ext>
            </a:extLst>
          </p:cNvPr>
          <p:cNvSpPr txBox="1">
            <a:spLocks/>
          </p:cNvSpPr>
          <p:nvPr/>
        </p:nvSpPr>
        <p:spPr>
          <a:xfrm>
            <a:off x="838200" y="365125"/>
            <a:ext cx="10515600" cy="1325563"/>
          </a:xfrm>
          <a:prstGeom prst="rect">
            <a:avLst/>
          </a:prstGeom>
          <a:noFill/>
        </p:spPr>
        <p:txBody>
          <a:bodyPr wrap="square">
            <a:spAutoFit/>
          </a:bodyPr>
          <a:lstStyle>
            <a:defPPr>
              <a:defRPr lang="en-US"/>
            </a:defPPr>
            <a:lvl1pPr>
              <a:defRPr sz="2800" b="1"/>
            </a:lvl1pPr>
          </a:lstStyle>
          <a:p>
            <a:r>
              <a:rPr lang="en-GB" dirty="0"/>
              <a:t>TEC PID Control (Resistor Adjustment) </a:t>
            </a:r>
            <a:r>
              <a:rPr lang="en-IE" dirty="0"/>
              <a:t>.</a:t>
            </a:r>
          </a:p>
        </p:txBody>
      </p:sp>
      <p:sp>
        <p:nvSpPr>
          <p:cNvPr id="7" name="TextBox 6">
            <a:extLst>
              <a:ext uri="{FF2B5EF4-FFF2-40B4-BE49-F238E27FC236}">
                <a16:creationId xmlns:a16="http://schemas.microsoft.com/office/drawing/2014/main" id="{F9653D86-E128-2795-D8EB-C58315A32125}"/>
              </a:ext>
            </a:extLst>
          </p:cNvPr>
          <p:cNvSpPr txBox="1"/>
          <p:nvPr/>
        </p:nvSpPr>
        <p:spPr>
          <a:xfrm>
            <a:off x="530942" y="1229023"/>
            <a:ext cx="10515600" cy="646331"/>
          </a:xfrm>
          <a:prstGeom prst="rect">
            <a:avLst/>
          </a:prstGeom>
          <a:noFill/>
        </p:spPr>
        <p:txBody>
          <a:bodyPr wrap="square" lIns="91440" tIns="45720" rIns="91440" bIns="45720" anchor="t">
            <a:spAutoFit/>
          </a:bodyPr>
          <a:lstStyle/>
          <a:p>
            <a:r>
              <a:rPr lang="en-US" dirty="0">
                <a:ea typeface="+mn-lt"/>
                <a:cs typeface="+mn-lt"/>
              </a:rPr>
              <a:t>R189, R186, and R170 should be replaced with 510K resistors. These resistors are part of the differential network PID and set the derivative gain. </a:t>
            </a:r>
            <a:endParaRPr lang="en-US" dirty="0">
              <a:highlight>
                <a:srgbClr val="00FF00"/>
              </a:highlight>
            </a:endParaRPr>
          </a:p>
        </p:txBody>
      </p:sp>
      <p:pic>
        <p:nvPicPr>
          <p:cNvPr id="8" name="Picture 7" descr="A close up of a circuit board&#10;&#10;AI-generated content may be incorrect.">
            <a:extLst>
              <a:ext uri="{FF2B5EF4-FFF2-40B4-BE49-F238E27FC236}">
                <a16:creationId xmlns:a16="http://schemas.microsoft.com/office/drawing/2014/main" id="{20BF7736-40B1-BC1D-B2F9-374C1F1BD4D4}"/>
              </a:ext>
            </a:extLst>
          </p:cNvPr>
          <p:cNvPicPr>
            <a:picLocks noChangeAspect="1"/>
          </p:cNvPicPr>
          <p:nvPr/>
        </p:nvPicPr>
        <p:blipFill>
          <a:blip r:embed="rId2"/>
          <a:stretch>
            <a:fillRect/>
          </a:stretch>
        </p:blipFill>
        <p:spPr>
          <a:xfrm>
            <a:off x="1521542" y="2274367"/>
            <a:ext cx="8534400" cy="2985341"/>
          </a:xfrm>
          <a:prstGeom prst="rect">
            <a:avLst/>
          </a:prstGeom>
        </p:spPr>
      </p:pic>
    </p:spTree>
    <p:extLst>
      <p:ext uri="{BB962C8B-B14F-4D97-AF65-F5344CB8AC3E}">
        <p14:creationId xmlns:p14="http://schemas.microsoft.com/office/powerpoint/2010/main" val="3555619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59891E-1577-C8B6-B085-2A9C54A32672}"/>
              </a:ext>
            </a:extLst>
          </p:cNvPr>
          <p:cNvSpPr>
            <a:spLocks noGrp="1"/>
          </p:cNvSpPr>
          <p:nvPr>
            <p:ph type="sldNum" sz="quarter" idx="12"/>
          </p:nvPr>
        </p:nvSpPr>
        <p:spPr/>
        <p:txBody>
          <a:bodyPr/>
          <a:lstStyle/>
          <a:p>
            <a:fld id="{B974A995-2F92-4FFE-87BE-1465EA15A0E7}" type="slidenum">
              <a:rPr lang="en-IE" smtClean="0"/>
              <a:t>9</a:t>
            </a:fld>
            <a:endParaRPr lang="en-IE"/>
          </a:p>
        </p:txBody>
      </p:sp>
      <p:sp>
        <p:nvSpPr>
          <p:cNvPr id="4" name="TextBox 3">
            <a:extLst>
              <a:ext uri="{FF2B5EF4-FFF2-40B4-BE49-F238E27FC236}">
                <a16:creationId xmlns:a16="http://schemas.microsoft.com/office/drawing/2014/main" id="{FFCDE7A4-CAAD-30C4-2ECB-91ABB42AAF44}"/>
              </a:ext>
            </a:extLst>
          </p:cNvPr>
          <p:cNvSpPr txBox="1"/>
          <p:nvPr/>
        </p:nvSpPr>
        <p:spPr>
          <a:xfrm>
            <a:off x="516194" y="1407226"/>
            <a:ext cx="11385755" cy="923330"/>
          </a:xfrm>
          <a:prstGeom prst="rect">
            <a:avLst/>
          </a:prstGeom>
          <a:noFill/>
        </p:spPr>
        <p:txBody>
          <a:bodyPr wrap="square" lIns="91440" tIns="45720" rIns="91440" bIns="45720" anchor="t">
            <a:spAutoFit/>
          </a:bodyPr>
          <a:lstStyle/>
          <a:p>
            <a:r>
              <a:rPr lang="en-US" dirty="0">
                <a:ea typeface="+mn-lt"/>
                <a:cs typeface="+mn-lt"/>
              </a:rPr>
              <a:t>Modify the TEC bias connection to the VCC-TEC rail in the ICs U46, U45 and U47. In the current design, the TEC bias is connected to VCC, which is introducing a 1 MHz noise in the VCC rail. This noise corresponds to the internal frequency of the TEC. </a:t>
            </a:r>
            <a:endParaRPr lang="en-US" dirty="0">
              <a:highlight>
                <a:srgbClr val="00FF00"/>
              </a:highlight>
              <a:ea typeface="+mn-lt"/>
              <a:cs typeface="+mn-lt"/>
            </a:endParaRPr>
          </a:p>
        </p:txBody>
      </p:sp>
      <p:sp>
        <p:nvSpPr>
          <p:cNvPr id="5" name="Title 1">
            <a:extLst>
              <a:ext uri="{FF2B5EF4-FFF2-40B4-BE49-F238E27FC236}">
                <a16:creationId xmlns:a16="http://schemas.microsoft.com/office/drawing/2014/main" id="{0B08C58B-961E-845F-B918-134210180294}"/>
              </a:ext>
            </a:extLst>
          </p:cNvPr>
          <p:cNvSpPr txBox="1">
            <a:spLocks/>
          </p:cNvSpPr>
          <p:nvPr/>
        </p:nvSpPr>
        <p:spPr>
          <a:xfrm>
            <a:off x="838200" y="365126"/>
            <a:ext cx="10515600" cy="814746"/>
          </a:xfrm>
          <a:prstGeom prst="rect">
            <a:avLst/>
          </a:prstGeom>
          <a:noFill/>
        </p:spPr>
        <p:txBody>
          <a:bodyPr wrap="square">
            <a:spAutoFit/>
          </a:bodyPr>
          <a:lstStyle>
            <a:defPPr>
              <a:defRPr lang="en-US"/>
            </a:defPPr>
            <a:lvl1pPr>
              <a:defRPr sz="2800" b="1"/>
            </a:lvl1pPr>
          </a:lstStyle>
          <a:p>
            <a:r>
              <a:rPr lang="en-IE" dirty="0"/>
              <a:t>TEC controller bias.</a:t>
            </a:r>
          </a:p>
        </p:txBody>
      </p:sp>
      <p:pic>
        <p:nvPicPr>
          <p:cNvPr id="6" name="Picture 5">
            <a:extLst>
              <a:ext uri="{FF2B5EF4-FFF2-40B4-BE49-F238E27FC236}">
                <a16:creationId xmlns:a16="http://schemas.microsoft.com/office/drawing/2014/main" id="{21A0187D-C76C-8F70-E803-87B48864EEBF}"/>
              </a:ext>
            </a:extLst>
          </p:cNvPr>
          <p:cNvPicPr>
            <a:picLocks noChangeAspect="1"/>
          </p:cNvPicPr>
          <p:nvPr/>
        </p:nvPicPr>
        <p:blipFill>
          <a:blip r:embed="rId2"/>
          <a:stretch>
            <a:fillRect/>
          </a:stretch>
        </p:blipFill>
        <p:spPr>
          <a:xfrm>
            <a:off x="1938130" y="2375112"/>
            <a:ext cx="8315740" cy="3937475"/>
          </a:xfrm>
          <a:prstGeom prst="rect">
            <a:avLst/>
          </a:prstGeom>
        </p:spPr>
      </p:pic>
    </p:spTree>
    <p:extLst>
      <p:ext uri="{BB962C8B-B14F-4D97-AF65-F5344CB8AC3E}">
        <p14:creationId xmlns:p14="http://schemas.microsoft.com/office/powerpoint/2010/main" val="2708144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4EB2A-4D4A-DFB3-0058-FBC75954EA3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E14FA7-15E0-D49C-8F9F-0CFDC3AB74E3}"/>
              </a:ext>
            </a:extLst>
          </p:cNvPr>
          <p:cNvSpPr>
            <a:spLocks noGrp="1"/>
          </p:cNvSpPr>
          <p:nvPr>
            <p:ph type="sldNum" sz="quarter" idx="12"/>
          </p:nvPr>
        </p:nvSpPr>
        <p:spPr/>
        <p:txBody>
          <a:bodyPr/>
          <a:lstStyle/>
          <a:p>
            <a:fld id="{B974A995-2F92-4FFE-87BE-1465EA15A0E7}" type="slidenum">
              <a:rPr lang="en-IE" smtClean="0"/>
              <a:t>10</a:t>
            </a:fld>
            <a:endParaRPr lang="en-IE"/>
          </a:p>
        </p:txBody>
      </p:sp>
      <p:sp>
        <p:nvSpPr>
          <p:cNvPr id="4" name="TextBox 3">
            <a:extLst>
              <a:ext uri="{FF2B5EF4-FFF2-40B4-BE49-F238E27FC236}">
                <a16:creationId xmlns:a16="http://schemas.microsoft.com/office/drawing/2014/main" id="{3DF6E133-0EEE-17A8-98CE-79C8CD552B8A}"/>
              </a:ext>
            </a:extLst>
          </p:cNvPr>
          <p:cNvSpPr txBox="1"/>
          <p:nvPr/>
        </p:nvSpPr>
        <p:spPr>
          <a:xfrm>
            <a:off x="528484" y="1179872"/>
            <a:ext cx="10825316" cy="923330"/>
          </a:xfrm>
          <a:prstGeom prst="rect">
            <a:avLst/>
          </a:prstGeom>
          <a:noFill/>
        </p:spPr>
        <p:txBody>
          <a:bodyPr wrap="square" lIns="91440" tIns="45720" rIns="91440" bIns="45720" anchor="t">
            <a:spAutoFit/>
          </a:bodyPr>
          <a:lstStyle/>
          <a:p>
            <a:r>
              <a:rPr lang="en-US" dirty="0">
                <a:ea typeface="+mn-lt"/>
                <a:cs typeface="+mn-lt"/>
              </a:rPr>
              <a:t>The MAX232 (U10) must be removed, as the EDFAs operate with TTL and LVTTL signal levels.</a:t>
            </a:r>
            <a:endParaRPr lang="en-US" dirty="0"/>
          </a:p>
          <a:p>
            <a:r>
              <a:rPr lang="en-US" dirty="0">
                <a:ea typeface="+mn-lt"/>
                <a:cs typeface="+mn-lt"/>
              </a:rPr>
              <a:t>The solution that was implemented is shown in the image. Some cables were soldered to complete the path between the EDFAs and the Raspberry Pi. </a:t>
            </a:r>
            <a:endParaRPr lang="en-US" dirty="0">
              <a:highlight>
                <a:srgbClr val="00FF00"/>
              </a:highlight>
            </a:endParaRPr>
          </a:p>
        </p:txBody>
      </p:sp>
      <p:pic>
        <p:nvPicPr>
          <p:cNvPr id="5" name="Content Placeholder 3" descr="A diagram of a computer&#10;&#10;AI-generated content may be incorrect.">
            <a:extLst>
              <a:ext uri="{FF2B5EF4-FFF2-40B4-BE49-F238E27FC236}">
                <a16:creationId xmlns:a16="http://schemas.microsoft.com/office/drawing/2014/main" id="{8A93D187-FE46-1C35-5606-DA69A15E1C1C}"/>
              </a:ext>
            </a:extLst>
          </p:cNvPr>
          <p:cNvPicPr>
            <a:picLocks noGrp="1" noChangeAspect="1"/>
          </p:cNvPicPr>
          <p:nvPr/>
        </p:nvPicPr>
        <p:blipFill>
          <a:blip r:embed="rId2"/>
          <a:srcRect l="97" r="37681" b="-257"/>
          <a:stretch/>
        </p:blipFill>
        <p:spPr>
          <a:xfrm>
            <a:off x="924551" y="2250444"/>
            <a:ext cx="5171449" cy="3124028"/>
          </a:xfrm>
          <a:prstGeom prst="rect">
            <a:avLst/>
          </a:prstGeom>
        </p:spPr>
      </p:pic>
      <p:pic>
        <p:nvPicPr>
          <p:cNvPr id="6" name="Picture 5" descr="A blue line with a square and a rectangle&#10;&#10;AI-generated content may be incorrect.">
            <a:extLst>
              <a:ext uri="{FF2B5EF4-FFF2-40B4-BE49-F238E27FC236}">
                <a16:creationId xmlns:a16="http://schemas.microsoft.com/office/drawing/2014/main" id="{A11A9635-06A2-B040-4FD3-CF03AE05B91F}"/>
              </a:ext>
            </a:extLst>
          </p:cNvPr>
          <p:cNvPicPr>
            <a:picLocks noChangeAspect="1"/>
          </p:cNvPicPr>
          <p:nvPr/>
        </p:nvPicPr>
        <p:blipFill>
          <a:blip r:embed="rId3"/>
          <a:stretch>
            <a:fillRect/>
          </a:stretch>
        </p:blipFill>
        <p:spPr>
          <a:xfrm>
            <a:off x="6563576" y="2793435"/>
            <a:ext cx="5052695" cy="2208530"/>
          </a:xfrm>
          <a:prstGeom prst="rect">
            <a:avLst/>
          </a:prstGeom>
        </p:spPr>
      </p:pic>
      <p:sp>
        <p:nvSpPr>
          <p:cNvPr id="7" name="TextBox 6">
            <a:extLst>
              <a:ext uri="{FF2B5EF4-FFF2-40B4-BE49-F238E27FC236}">
                <a16:creationId xmlns:a16="http://schemas.microsoft.com/office/drawing/2014/main" id="{0F72FB41-BB92-3D2D-7231-21CA0CC5ADCF}"/>
              </a:ext>
            </a:extLst>
          </p:cNvPr>
          <p:cNvSpPr txBox="1"/>
          <p:nvPr/>
        </p:nvSpPr>
        <p:spPr>
          <a:xfrm>
            <a:off x="8358895" y="5005140"/>
            <a:ext cx="274320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Example - New </a:t>
            </a:r>
            <a:r>
              <a:rPr lang="en-US" dirty="0">
                <a:latin typeface="Aptos"/>
              </a:rPr>
              <a:t>design</a:t>
            </a:r>
          </a:p>
        </p:txBody>
      </p:sp>
      <p:sp>
        <p:nvSpPr>
          <p:cNvPr id="8" name="Title 1">
            <a:extLst>
              <a:ext uri="{FF2B5EF4-FFF2-40B4-BE49-F238E27FC236}">
                <a16:creationId xmlns:a16="http://schemas.microsoft.com/office/drawing/2014/main" id="{222B5B1C-EB8F-6EDB-FE62-D9660D3FDBB7}"/>
              </a:ext>
            </a:extLst>
          </p:cNvPr>
          <p:cNvSpPr txBox="1">
            <a:spLocks/>
          </p:cNvSpPr>
          <p:nvPr/>
        </p:nvSpPr>
        <p:spPr>
          <a:xfrm>
            <a:off x="528484" y="365126"/>
            <a:ext cx="10515600" cy="814746"/>
          </a:xfrm>
          <a:prstGeom prst="rect">
            <a:avLst/>
          </a:prstGeom>
          <a:noFill/>
        </p:spPr>
        <p:txBody>
          <a:bodyPr wrap="square">
            <a:spAutoFit/>
          </a:bodyPr>
          <a:lstStyle>
            <a:defPPr>
              <a:defRPr lang="en-US"/>
            </a:defPPr>
            <a:lvl1pPr>
              <a:defRPr sz="2800" b="1"/>
            </a:lvl1pPr>
          </a:lstStyle>
          <a:p>
            <a:r>
              <a:rPr lang="en-IE" dirty="0"/>
              <a:t>UART–EDFA Digital signal levels</a:t>
            </a:r>
          </a:p>
        </p:txBody>
      </p:sp>
      <p:sp>
        <p:nvSpPr>
          <p:cNvPr id="9" name="Arrow: Right 8">
            <a:extLst>
              <a:ext uri="{FF2B5EF4-FFF2-40B4-BE49-F238E27FC236}">
                <a16:creationId xmlns:a16="http://schemas.microsoft.com/office/drawing/2014/main" id="{5B52A8D1-2EB4-1014-D123-1DD8C9405C80}"/>
              </a:ext>
            </a:extLst>
          </p:cNvPr>
          <p:cNvSpPr/>
          <p:nvPr/>
        </p:nvSpPr>
        <p:spPr>
          <a:xfrm>
            <a:off x="5963055" y="3929974"/>
            <a:ext cx="418290" cy="24319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914347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9AB76-4138-B10C-FF27-013748F8781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8EF155-C63F-8E3B-68DD-30065D300B43}"/>
              </a:ext>
            </a:extLst>
          </p:cNvPr>
          <p:cNvSpPr>
            <a:spLocks noGrp="1"/>
          </p:cNvSpPr>
          <p:nvPr>
            <p:ph type="sldNum" sz="quarter" idx="12"/>
          </p:nvPr>
        </p:nvSpPr>
        <p:spPr/>
        <p:txBody>
          <a:bodyPr/>
          <a:lstStyle/>
          <a:p>
            <a:fld id="{B974A995-2F92-4FFE-87BE-1465EA15A0E7}" type="slidenum">
              <a:rPr lang="en-IE" smtClean="0"/>
              <a:t>11</a:t>
            </a:fld>
            <a:endParaRPr lang="en-IE"/>
          </a:p>
        </p:txBody>
      </p:sp>
      <p:pic>
        <p:nvPicPr>
          <p:cNvPr id="3" name="Content Placeholder 3" descr="A diagram of a circuit board&#10;&#10;AI-generated content may be incorrect.">
            <a:extLst>
              <a:ext uri="{FF2B5EF4-FFF2-40B4-BE49-F238E27FC236}">
                <a16:creationId xmlns:a16="http://schemas.microsoft.com/office/drawing/2014/main" id="{516E7EC6-8410-25BA-04A2-9791B021DD77}"/>
              </a:ext>
            </a:extLst>
          </p:cNvPr>
          <p:cNvPicPr>
            <a:picLocks noGrp="1" noChangeAspect="1"/>
          </p:cNvPicPr>
          <p:nvPr/>
        </p:nvPicPr>
        <p:blipFill>
          <a:blip r:embed="rId2"/>
          <a:stretch>
            <a:fillRect/>
          </a:stretch>
        </p:blipFill>
        <p:spPr>
          <a:xfrm>
            <a:off x="433649" y="1724025"/>
            <a:ext cx="5191125" cy="3409950"/>
          </a:xfrm>
          <a:prstGeom prst="rect">
            <a:avLst/>
          </a:prstGeom>
        </p:spPr>
      </p:pic>
      <p:pic>
        <p:nvPicPr>
          <p:cNvPr id="4" name="Picture 3" descr="A diagram of a circuit&#10;&#10;AI-generated content may be incorrect.">
            <a:extLst>
              <a:ext uri="{FF2B5EF4-FFF2-40B4-BE49-F238E27FC236}">
                <a16:creationId xmlns:a16="http://schemas.microsoft.com/office/drawing/2014/main" id="{DC3C6210-B14A-7D35-8493-81B03688E0EF}"/>
              </a:ext>
            </a:extLst>
          </p:cNvPr>
          <p:cNvPicPr>
            <a:picLocks noChangeAspect="1"/>
          </p:cNvPicPr>
          <p:nvPr/>
        </p:nvPicPr>
        <p:blipFill>
          <a:blip r:embed="rId3"/>
          <a:stretch>
            <a:fillRect/>
          </a:stretch>
        </p:blipFill>
        <p:spPr>
          <a:xfrm>
            <a:off x="6976166" y="1724405"/>
            <a:ext cx="4782185" cy="3154680"/>
          </a:xfrm>
          <a:prstGeom prst="rect">
            <a:avLst/>
          </a:prstGeom>
        </p:spPr>
      </p:pic>
      <p:sp>
        <p:nvSpPr>
          <p:cNvPr id="5" name="TextBox 4">
            <a:extLst>
              <a:ext uri="{FF2B5EF4-FFF2-40B4-BE49-F238E27FC236}">
                <a16:creationId xmlns:a16="http://schemas.microsoft.com/office/drawing/2014/main" id="{C3BDEF04-22C0-610C-4C35-9D75F22D1FBB}"/>
              </a:ext>
            </a:extLst>
          </p:cNvPr>
          <p:cNvSpPr txBox="1"/>
          <p:nvPr/>
        </p:nvSpPr>
        <p:spPr>
          <a:xfrm>
            <a:off x="8329398" y="5133975"/>
            <a:ext cx="274320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Example - New </a:t>
            </a:r>
            <a:r>
              <a:rPr lang="en-US" dirty="0">
                <a:latin typeface="Aptos"/>
              </a:rPr>
              <a:t>design</a:t>
            </a:r>
          </a:p>
        </p:txBody>
      </p:sp>
      <p:sp>
        <p:nvSpPr>
          <p:cNvPr id="7" name="TextBox 6">
            <a:extLst>
              <a:ext uri="{FF2B5EF4-FFF2-40B4-BE49-F238E27FC236}">
                <a16:creationId xmlns:a16="http://schemas.microsoft.com/office/drawing/2014/main" id="{EF8E109E-DE6A-2169-5561-61A9A78920EF}"/>
              </a:ext>
            </a:extLst>
          </p:cNvPr>
          <p:cNvSpPr txBox="1"/>
          <p:nvPr/>
        </p:nvSpPr>
        <p:spPr>
          <a:xfrm>
            <a:off x="433649" y="500857"/>
            <a:ext cx="10158198" cy="646331"/>
          </a:xfrm>
          <a:prstGeom prst="rect">
            <a:avLst/>
          </a:prstGeom>
          <a:noFill/>
        </p:spPr>
        <p:txBody>
          <a:bodyPr wrap="square" lIns="91440" tIns="45720" rIns="91440" bIns="45720" anchor="t">
            <a:spAutoFit/>
          </a:bodyPr>
          <a:lstStyle/>
          <a:p>
            <a:r>
              <a:rPr lang="en-GB" dirty="0"/>
              <a:t>The 3th EDFA shares the MAX232 with the optical filter. Since the optical filter requires the MAX232 interface, U9 cannot be removed, so the EDFA RX and TX lines must be rerouted.</a:t>
            </a:r>
            <a:endParaRPr lang="en-US" dirty="0">
              <a:highlight>
                <a:srgbClr val="00FF00"/>
              </a:highlight>
            </a:endParaRPr>
          </a:p>
        </p:txBody>
      </p:sp>
      <p:sp>
        <p:nvSpPr>
          <p:cNvPr id="8" name="Arrow: Right 7">
            <a:extLst>
              <a:ext uri="{FF2B5EF4-FFF2-40B4-BE49-F238E27FC236}">
                <a16:creationId xmlns:a16="http://schemas.microsoft.com/office/drawing/2014/main" id="{65C19380-8A9C-B426-FDAA-3D678DDE2D27}"/>
              </a:ext>
            </a:extLst>
          </p:cNvPr>
          <p:cNvSpPr/>
          <p:nvPr/>
        </p:nvSpPr>
        <p:spPr>
          <a:xfrm>
            <a:off x="5963055" y="3929974"/>
            <a:ext cx="418290" cy="24319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488834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68AE2A-A31E-61EB-2E3A-B82C0C391487}"/>
              </a:ext>
            </a:extLst>
          </p:cNvPr>
          <p:cNvSpPr>
            <a:spLocks noGrp="1"/>
          </p:cNvSpPr>
          <p:nvPr>
            <p:ph type="sldNum" sz="quarter" idx="12"/>
          </p:nvPr>
        </p:nvSpPr>
        <p:spPr/>
        <p:txBody>
          <a:bodyPr/>
          <a:lstStyle/>
          <a:p>
            <a:fld id="{B974A995-2F92-4FFE-87BE-1465EA15A0E7}" type="slidenum">
              <a:rPr lang="en-IE" smtClean="0"/>
              <a:t>12</a:t>
            </a:fld>
            <a:endParaRPr lang="en-IE"/>
          </a:p>
        </p:txBody>
      </p:sp>
      <p:pic>
        <p:nvPicPr>
          <p:cNvPr id="3" name="Picture 2" descr="A diagram of a computer&#10;&#10;AI-generated content may be incorrect.">
            <a:extLst>
              <a:ext uri="{FF2B5EF4-FFF2-40B4-BE49-F238E27FC236}">
                <a16:creationId xmlns:a16="http://schemas.microsoft.com/office/drawing/2014/main" id="{A2B07A1F-3154-EBBC-5EEB-592116EB73BC}"/>
              </a:ext>
            </a:extLst>
          </p:cNvPr>
          <p:cNvPicPr>
            <a:picLocks noChangeAspect="1"/>
          </p:cNvPicPr>
          <p:nvPr/>
        </p:nvPicPr>
        <p:blipFill>
          <a:blip r:embed="rId2"/>
          <a:stretch>
            <a:fillRect/>
          </a:stretch>
        </p:blipFill>
        <p:spPr>
          <a:xfrm>
            <a:off x="2761466" y="2034584"/>
            <a:ext cx="5695675" cy="3113295"/>
          </a:xfrm>
          <a:prstGeom prst="rect">
            <a:avLst/>
          </a:prstGeom>
        </p:spPr>
      </p:pic>
      <p:sp>
        <p:nvSpPr>
          <p:cNvPr id="6" name="Title 1">
            <a:extLst>
              <a:ext uri="{FF2B5EF4-FFF2-40B4-BE49-F238E27FC236}">
                <a16:creationId xmlns:a16="http://schemas.microsoft.com/office/drawing/2014/main" id="{2FF472F9-4B12-F350-9C8F-981FF5DE6710}"/>
              </a:ext>
            </a:extLst>
          </p:cNvPr>
          <p:cNvSpPr txBox="1">
            <a:spLocks/>
          </p:cNvSpPr>
          <p:nvPr/>
        </p:nvSpPr>
        <p:spPr>
          <a:xfrm>
            <a:off x="528484" y="365126"/>
            <a:ext cx="10515600" cy="814746"/>
          </a:xfrm>
          <a:prstGeom prst="rect">
            <a:avLst/>
          </a:prstGeom>
          <a:noFill/>
        </p:spPr>
        <p:txBody>
          <a:bodyPr wrap="square">
            <a:spAutoFit/>
          </a:bodyPr>
          <a:lstStyle>
            <a:defPPr>
              <a:defRPr lang="en-US"/>
            </a:defPPr>
            <a:lvl1pPr>
              <a:defRPr sz="2800" b="1"/>
            </a:lvl1pPr>
          </a:lstStyle>
          <a:p>
            <a:r>
              <a:rPr lang="en-IE" dirty="0"/>
              <a:t>Select input C - demultiplexer </a:t>
            </a:r>
          </a:p>
        </p:txBody>
      </p:sp>
      <p:sp>
        <p:nvSpPr>
          <p:cNvPr id="9" name="TextBox 8">
            <a:extLst>
              <a:ext uri="{FF2B5EF4-FFF2-40B4-BE49-F238E27FC236}">
                <a16:creationId xmlns:a16="http://schemas.microsoft.com/office/drawing/2014/main" id="{DAA68E79-5F7D-9A97-3672-C7B82AEB2EF5}"/>
              </a:ext>
            </a:extLst>
          </p:cNvPr>
          <p:cNvSpPr txBox="1"/>
          <p:nvPr/>
        </p:nvSpPr>
        <p:spPr>
          <a:xfrm>
            <a:off x="528484" y="1063790"/>
            <a:ext cx="11135032" cy="369332"/>
          </a:xfrm>
          <a:prstGeom prst="rect">
            <a:avLst/>
          </a:prstGeom>
          <a:noFill/>
        </p:spPr>
        <p:txBody>
          <a:bodyPr wrap="square">
            <a:spAutoFit/>
          </a:bodyPr>
          <a:lstStyle/>
          <a:p>
            <a:r>
              <a:rPr lang="en-GB" dirty="0"/>
              <a:t>The selection pin C is misrouted. This pin must be connected to ground to correctly select the output. </a:t>
            </a:r>
            <a:endParaRPr lang="en-IE" dirty="0"/>
          </a:p>
        </p:txBody>
      </p:sp>
    </p:spTree>
    <p:extLst>
      <p:ext uri="{BB962C8B-B14F-4D97-AF65-F5344CB8AC3E}">
        <p14:creationId xmlns:p14="http://schemas.microsoft.com/office/powerpoint/2010/main" val="1246031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C3A0B5-7323-6FA6-8A1C-479DCF33B818}"/>
              </a:ext>
            </a:extLst>
          </p:cNvPr>
          <p:cNvSpPr>
            <a:spLocks noGrp="1"/>
          </p:cNvSpPr>
          <p:nvPr>
            <p:ph type="sldNum" sz="quarter" idx="12"/>
          </p:nvPr>
        </p:nvSpPr>
        <p:spPr/>
        <p:txBody>
          <a:bodyPr/>
          <a:lstStyle/>
          <a:p>
            <a:fld id="{B974A995-2F92-4FFE-87BE-1465EA15A0E7}" type="slidenum">
              <a:rPr lang="en-IE" smtClean="0"/>
              <a:t>13</a:t>
            </a:fld>
            <a:endParaRPr lang="en-IE"/>
          </a:p>
        </p:txBody>
      </p:sp>
      <p:sp>
        <p:nvSpPr>
          <p:cNvPr id="3" name="Title 1">
            <a:extLst>
              <a:ext uri="{FF2B5EF4-FFF2-40B4-BE49-F238E27FC236}">
                <a16:creationId xmlns:a16="http://schemas.microsoft.com/office/drawing/2014/main" id="{5C17C606-DEEC-0AE5-745D-D9AB9E85F107}"/>
              </a:ext>
            </a:extLst>
          </p:cNvPr>
          <p:cNvSpPr txBox="1">
            <a:spLocks/>
          </p:cNvSpPr>
          <p:nvPr/>
        </p:nvSpPr>
        <p:spPr>
          <a:xfrm>
            <a:off x="653845" y="135732"/>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E" b="1" dirty="0"/>
              <a:t>Summary of Improvements:</a:t>
            </a:r>
            <a:endParaRPr lang="en-IE" dirty="0"/>
          </a:p>
        </p:txBody>
      </p:sp>
      <p:sp>
        <p:nvSpPr>
          <p:cNvPr id="14" name="TextBox 13">
            <a:extLst>
              <a:ext uri="{FF2B5EF4-FFF2-40B4-BE49-F238E27FC236}">
                <a16:creationId xmlns:a16="http://schemas.microsoft.com/office/drawing/2014/main" id="{F680B692-F0F7-D8C6-F529-C2CD7C623785}"/>
              </a:ext>
            </a:extLst>
          </p:cNvPr>
          <p:cNvSpPr txBox="1"/>
          <p:nvPr/>
        </p:nvSpPr>
        <p:spPr>
          <a:xfrm>
            <a:off x="428017" y="938075"/>
            <a:ext cx="3288016" cy="523220"/>
          </a:xfrm>
          <a:prstGeom prst="rect">
            <a:avLst/>
          </a:prstGeom>
          <a:noFill/>
        </p:spPr>
        <p:txBody>
          <a:bodyPr wrap="square">
            <a:spAutoFit/>
          </a:bodyPr>
          <a:lstStyle>
            <a:defPPr>
              <a:defRPr lang="en-US"/>
            </a:defPPr>
            <a:lvl1pPr>
              <a:defRPr sz="2800" b="1"/>
            </a:lvl1pPr>
          </a:lstStyle>
          <a:p>
            <a:r>
              <a:rPr lang="en-GB" dirty="0"/>
              <a:t>ADC and DAC design</a:t>
            </a:r>
            <a:endParaRPr lang="en-IE" dirty="0" err="1"/>
          </a:p>
        </p:txBody>
      </p:sp>
      <p:sp>
        <p:nvSpPr>
          <p:cNvPr id="4" name="TextBox 3">
            <a:extLst>
              <a:ext uri="{FF2B5EF4-FFF2-40B4-BE49-F238E27FC236}">
                <a16:creationId xmlns:a16="http://schemas.microsoft.com/office/drawing/2014/main" id="{8670E60B-F991-C31F-1F9C-1B5650D14B06}"/>
              </a:ext>
            </a:extLst>
          </p:cNvPr>
          <p:cNvSpPr txBox="1"/>
          <p:nvPr/>
        </p:nvSpPr>
        <p:spPr>
          <a:xfrm>
            <a:off x="428017" y="1531742"/>
            <a:ext cx="9776298" cy="523220"/>
          </a:xfrm>
          <a:prstGeom prst="rect">
            <a:avLst/>
          </a:prstGeom>
          <a:noFill/>
        </p:spPr>
        <p:txBody>
          <a:bodyPr wrap="square">
            <a:spAutoFit/>
          </a:bodyPr>
          <a:lstStyle>
            <a:defPPr>
              <a:defRPr lang="en-US"/>
            </a:defPPr>
            <a:lvl1pPr>
              <a:defRPr sz="2800" b="1"/>
            </a:lvl1pPr>
          </a:lstStyle>
          <a:p>
            <a:r>
              <a:rPr lang="en-GB" dirty="0"/>
              <a:t>PD circuit  for </a:t>
            </a:r>
            <a:r>
              <a:rPr lang="en-IE" dirty="0"/>
              <a:t>measure the</a:t>
            </a:r>
            <a:r>
              <a:rPr lang="en-GB" dirty="0"/>
              <a:t> </a:t>
            </a:r>
            <a:r>
              <a:rPr lang="en-IE" dirty="0"/>
              <a:t>injection locking signal.</a:t>
            </a:r>
            <a:endParaRPr lang="en-GB" dirty="0"/>
          </a:p>
        </p:txBody>
      </p:sp>
      <p:sp>
        <p:nvSpPr>
          <p:cNvPr id="6" name="TextBox 5">
            <a:extLst>
              <a:ext uri="{FF2B5EF4-FFF2-40B4-BE49-F238E27FC236}">
                <a16:creationId xmlns:a16="http://schemas.microsoft.com/office/drawing/2014/main" id="{D51FBED0-3310-51EF-96B0-90BD7DDD3877}"/>
              </a:ext>
            </a:extLst>
          </p:cNvPr>
          <p:cNvSpPr txBox="1"/>
          <p:nvPr/>
        </p:nvSpPr>
        <p:spPr>
          <a:xfrm>
            <a:off x="428017" y="2125410"/>
            <a:ext cx="10029217" cy="523220"/>
          </a:xfrm>
          <a:prstGeom prst="rect">
            <a:avLst/>
          </a:prstGeom>
          <a:noFill/>
        </p:spPr>
        <p:txBody>
          <a:bodyPr wrap="square">
            <a:spAutoFit/>
          </a:bodyPr>
          <a:lstStyle/>
          <a:p>
            <a:r>
              <a:rPr lang="en-GB" sz="2800" b="1" dirty="0"/>
              <a:t>Voltage suppression detection. </a:t>
            </a:r>
          </a:p>
        </p:txBody>
      </p:sp>
    </p:spTree>
    <p:extLst>
      <p:ext uri="{BB962C8B-B14F-4D97-AF65-F5344CB8AC3E}">
        <p14:creationId xmlns:p14="http://schemas.microsoft.com/office/powerpoint/2010/main" val="1222625007"/>
      </p:ext>
    </p:extLst>
  </p:cSld>
  <p:clrMapOvr>
    <a:masterClrMapping/>
  </p:clrMapOvr>
</p:sld>
</file>

<file path=ppt/theme/theme1.xml><?xml version="1.0" encoding="utf-8"?>
<a:theme xmlns:a="http://schemas.openxmlformats.org/drawingml/2006/main" name="1_Office Theme">
  <a:themeElements>
    <a:clrScheme name="Pilot">
      <a:dk1>
        <a:srgbClr val="025DA4"/>
      </a:dk1>
      <a:lt1>
        <a:sysClr val="window" lastClr="FFFFFF"/>
      </a:lt1>
      <a:dk2>
        <a:srgbClr val="60A3D7"/>
      </a:dk2>
      <a:lt2>
        <a:srgbClr val="AECEE8"/>
      </a:lt2>
      <a:accent1>
        <a:srgbClr val="FD703C"/>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Franklin Gothic Book"/>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dirty="0" err="1" smtClean="0"/>
        </a:defPPr>
      </a:lstStyle>
    </a:txDef>
  </a:objectDefaults>
  <a:extraClrSchemeLst/>
  <a:extLst>
    <a:ext uri="{05A4C25C-085E-4340-85A3-A5531E510DB2}">
      <thm15:themeFamily xmlns:thm15="http://schemas.microsoft.com/office/thememl/2012/main" name="Pilot Photonics Presentation Template" id="{A0F79CC7-F9AE-42F5-8AE8-C95BBEB1248B}" vid="{460865FA-7D02-442C-8597-7AA41E0A657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9708C55C0817479B5456228F6F05E3" ma:contentTypeVersion="23" ma:contentTypeDescription="Create a new document." ma:contentTypeScope="" ma:versionID="9f644bfb4ada1e27336dd13a7b20a7c6">
  <xsd:schema xmlns:xsd="http://www.w3.org/2001/XMLSchema" xmlns:xs="http://www.w3.org/2001/XMLSchema" xmlns:p="http://schemas.microsoft.com/office/2006/metadata/properties" xmlns:ns2="d2422bbe-c13c-4fef-a62f-d8cde25fb507" xmlns:ns3="17dd6eed-d5a7-40a3-a336-067a3d765c37" targetNamespace="http://schemas.microsoft.com/office/2006/metadata/properties" ma:root="true" ma:fieldsID="00216b2d5a7db59f0259a64b938519a8" ns2:_="" ns3:_="">
    <xsd:import namespace="d2422bbe-c13c-4fef-a62f-d8cde25fb507"/>
    <xsd:import namespace="17dd6eed-d5a7-40a3-a336-067a3d765c3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3:SharedWithUsers" minOccurs="0"/>
                <xsd:element ref="ns3:SharedWithDetails" minOccurs="0"/>
                <xsd:element ref="ns2:MediaServiceOCR" minOccurs="0"/>
                <xsd:element ref="ns2:Image" minOccurs="0"/>
                <xsd:element ref="ns2:Gain_x0020_Switched_x0020_Comb_x0020_Source" minOccurs="0"/>
                <xsd:element ref="ns2:https_x003a__x002f__x002f_pilotphotonics_x002e_sharepoint_x002e_com_x002f_sites_x002f_Technical_x002d_Productdevelopment_x002f_SitePages_x002f_Gain_x002d_Switched_x002d_Comb_x002d_Source_x002e_aspx"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Date"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422bbe-c13c-4fef-a62f-d8cde25fb507"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Image" ma:index="15"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Gain_x0020_Switched_x0020_Comb_x0020_Source" ma:index="16" nillable="true" ma:displayName="Gain Switched Comb Source" ma:description="lll" ma:format="Hyperlink" ma:internalName="Gain_x0020_Switched_x0020_Comb_x0020_Source">
      <xsd:complexType>
        <xsd:complexContent>
          <xsd:extension base="dms:URL">
            <xsd:sequence>
              <xsd:element name="Url" type="dms:ValidUrl" minOccurs="0" nillable="true"/>
              <xsd:element name="Description" type="xsd:string" nillable="true"/>
            </xsd:sequence>
          </xsd:extension>
        </xsd:complexContent>
      </xsd:complexType>
    </xsd:element>
    <xsd:element name="https_x003a__x002f__x002f_pilotphotonics_x002e_sharepoint_x002e_com_x002f_sites_x002f_Technical_x002d_Productdevelopment_x002f_SitePages_x002f_Gain_x002d_Switched_x002d_Comb_x002d_Source_x002e_aspx" ma:index="17" nillable="true" ma:displayName="https://pilotphotonics.sharepoint.com/sites/Technical-Productdevelopment/SitePages/Gain-Switched-Comb-Source.aspx" ma:format="Hyperlink" ma:internalName="https_x003a__x002f__x002f_pilotphotonics_x002e_sharepoint_x002e_com_x002f_sites_x002f_Technical_x002d_Productdevelopment_x002f_SitePages_x002f_Gain_x002d_Switched_x002d_Comb_x002d_Source_x002e_aspx">
      <xsd:complexType>
        <xsd:complexContent>
          <xsd:extension base="dms:URL">
            <xsd:sequence>
              <xsd:element name="Url" type="dms:ValidUrl" minOccurs="0" nillable="true"/>
              <xsd:element name="Description" type="xsd:string" nillable="true"/>
            </xsd:sequence>
          </xsd:extension>
        </xsd:complexContent>
      </xsd:complexType>
    </xsd:element>
    <xsd:element name="MediaServiceLocation" ma:index="18" nillable="true" ma:displayName="MediaServiceLocation"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Date" ma:index="23" nillable="true" ma:displayName="Date" ma:format="DateTime" ma:internalName="Date">
      <xsd:simpleType>
        <xsd:restriction base="dms:DateTime"/>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e2fd7c6-7a70-4948-a0f9-30474ffc402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dd6eed-d5a7-40a3-a336-067a3d765c37"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TaxCatchAll" ma:index="27" nillable="true" ma:displayName="Taxonomy Catch All Column" ma:hidden="true" ma:list="{176964f3-7655-4a37-acc9-7bd4bc95bbfa}" ma:internalName="TaxCatchAll" ma:showField="CatchAllData" ma:web="17dd6eed-d5a7-40a3-a336-067a3d765c3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ate xmlns="d2422bbe-c13c-4fef-a62f-d8cde25fb507" xsi:nil="true"/>
    <https_x003a__x002f__x002f_pilotphotonics_x002e_sharepoint_x002e_com_x002f_sites_x002f_Technical_x002d_Productdevelopment_x002f_SitePages_x002f_Gain_x002d_Switched_x002d_Comb_x002d_Source_x002e_aspx xmlns="d2422bbe-c13c-4fef-a62f-d8cde25fb507">
      <Url xsi:nil="true"/>
      <Description xsi:nil="true"/>
    </https_x003a__x002f__x002f_pilotphotonics_x002e_sharepoint_x002e_com_x002f_sites_x002f_Technical_x002d_Productdevelopment_x002f_SitePages_x002f_Gain_x002d_Switched_x002d_Comb_x002d_Source_x002e_aspx>
    <Image xmlns="d2422bbe-c13c-4fef-a62f-d8cde25fb507">
      <Url xsi:nil="true"/>
      <Description xsi:nil="true"/>
    </Image>
    <Gain_x0020_Switched_x0020_Comb_x0020_Source xmlns="d2422bbe-c13c-4fef-a62f-d8cde25fb507">
      <Url xsi:nil="true"/>
      <Description xsi:nil="true"/>
    </Gain_x0020_Switched_x0020_Comb_x0020_Source>
    <lcf76f155ced4ddcb4097134ff3c332f xmlns="d2422bbe-c13c-4fef-a62f-d8cde25fb507">
      <Terms xmlns="http://schemas.microsoft.com/office/infopath/2007/PartnerControls"/>
    </lcf76f155ced4ddcb4097134ff3c332f>
    <TaxCatchAll xmlns="17dd6eed-d5a7-40a3-a336-067a3d765c37" xsi:nil="true"/>
  </documentManagement>
</p:properties>
</file>

<file path=customXml/itemProps1.xml><?xml version="1.0" encoding="utf-8"?>
<ds:datastoreItem xmlns:ds="http://schemas.openxmlformats.org/officeDocument/2006/customXml" ds:itemID="{72064113-7F32-422E-A555-CC10F9C351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422bbe-c13c-4fef-a62f-d8cde25fb507"/>
    <ds:schemaRef ds:uri="17dd6eed-d5a7-40a3-a336-067a3d765c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8D3C954-4DE3-4002-98D5-F2A25A5B3B29}">
  <ds:schemaRefs>
    <ds:schemaRef ds:uri="http://schemas.microsoft.com/sharepoint/v3/contenttype/forms"/>
  </ds:schemaRefs>
</ds:datastoreItem>
</file>

<file path=customXml/itemProps3.xml><?xml version="1.0" encoding="utf-8"?>
<ds:datastoreItem xmlns:ds="http://schemas.openxmlformats.org/officeDocument/2006/customXml" ds:itemID="{858E2C5C-6E97-41F6-8EDB-CF00BE104DEF}">
  <ds:schemaRefs>
    <ds:schemaRef ds:uri="http://schemas.microsoft.com/office/2006/metadata/properties"/>
    <ds:schemaRef ds:uri="http://schemas.microsoft.com/office/infopath/2007/PartnerControls"/>
    <ds:schemaRef ds:uri="d2422bbe-c13c-4fef-a62f-d8cde25fb507"/>
    <ds:schemaRef ds:uri="17dd6eed-d5a7-40a3-a336-067a3d765c37"/>
  </ds:schemaRefs>
</ds:datastoreItem>
</file>

<file path=docProps/app.xml><?xml version="1.0" encoding="utf-8"?>
<Properties xmlns="http://schemas.openxmlformats.org/officeDocument/2006/extended-properties" xmlns:vt="http://schemas.openxmlformats.org/officeDocument/2006/docPropsVTypes">
  <TotalTime>105</TotalTime>
  <Words>646</Words>
  <Application>Microsoft Office PowerPoint</Application>
  <PresentationFormat>Widescreen</PresentationFormat>
  <Paragraphs>64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Franklin Gothic Book</vt:lpstr>
      <vt:lpstr>1_Office Theme</vt:lpstr>
      <vt:lpstr>xDAC v3</vt:lpstr>
      <vt:lpstr>Issues</vt:lpstr>
      <vt:lpstr>Improvements</vt:lpstr>
      <vt:lpstr>Summary of Issues:</vt:lpstr>
      <vt:lpstr>Op-Amp Gain (Polarization Controller)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Jorge Uribe</dc:creator>
  <cp:lastModifiedBy>Jorge Uribe</cp:lastModifiedBy>
  <cp:revision>17</cp:revision>
  <dcterms:created xsi:type="dcterms:W3CDTF">2025-10-06T09:23:37Z</dcterms:created>
  <dcterms:modified xsi:type="dcterms:W3CDTF">2026-02-09T13:41:31Z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0x010100029708C55C0817479B5456228F6F05E3</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_activity">
    <vt:lpwstr>{"FileActivityType":"9","FileActivityTimeStamp":"2025-10-06T11:01:45.517Z","FileActivityUsersOnPage":[{"DisplayName":"Jorge Uribe","Id":"jorge.uribe@pilotphotonics.com"}],"FileActivityNavigationId":null}</vt:lpwstr>
  </property>
</Properties>
</file>